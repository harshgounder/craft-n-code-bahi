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0B0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371600" y="3886200"/>
            <a:ext cx="11887200" cy="1005840"/>
          </a:xfrm>
          <a:prstGeom prst="ellipse">
            <a:avLst/>
          </a:prstGeom>
          <a:solidFill>
            <a:srgbClr val="F28C28">
              <a:alpha val="12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731520" y="4142232"/>
            <a:ext cx="10607040" cy="777240"/>
          </a:xfrm>
          <a:prstGeom prst="ellipse">
            <a:avLst/>
          </a:prstGeom>
          <a:solidFill>
            <a:srgbClr val="F28C28">
              <a:alpha val="2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182880" y="4389120"/>
            <a:ext cx="8778240" cy="640080"/>
          </a:xfrm>
          <a:prstGeom prst="ellipse">
            <a:avLst/>
          </a:prstGeom>
          <a:solidFill>
            <a:srgbClr val="F28C28">
              <a:alpha val="34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274320" y="3904488"/>
            <a:ext cx="41148" cy="41148"/>
          </a:xfrm>
          <a:prstGeom prst="ellipse">
            <a:avLst/>
          </a:prstGeom>
          <a:solidFill>
            <a:srgbClr val="F28C28">
              <a:alpha val="55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960120" y="4032504"/>
            <a:ext cx="41148" cy="41148"/>
          </a:xfrm>
          <a:prstGeom prst="ellipse">
            <a:avLst/>
          </a:prstGeom>
          <a:solidFill>
            <a:srgbClr val="FFFFFF">
              <a:alpha val="55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1645920" y="4160520"/>
            <a:ext cx="41148" cy="41148"/>
          </a:xfrm>
          <a:prstGeom prst="ellipse">
            <a:avLst/>
          </a:prstGeom>
          <a:solidFill>
            <a:srgbClr val="FFFFFF">
              <a:alpha val="55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2331720" y="3968496"/>
            <a:ext cx="41148" cy="41148"/>
          </a:xfrm>
          <a:prstGeom prst="ellipse">
            <a:avLst/>
          </a:prstGeom>
          <a:solidFill>
            <a:srgbClr val="F28C28">
              <a:alpha val="55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3017520" y="4096512"/>
            <a:ext cx="41148" cy="41148"/>
          </a:xfrm>
          <a:prstGeom prst="ellipse">
            <a:avLst/>
          </a:prstGeom>
          <a:solidFill>
            <a:srgbClr val="FFFFFF">
              <a:alpha val="55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3703320" y="3904488"/>
            <a:ext cx="41148" cy="41148"/>
          </a:xfrm>
          <a:prstGeom prst="ellipse">
            <a:avLst/>
          </a:prstGeom>
          <a:solidFill>
            <a:srgbClr val="FFFFFF">
              <a:alpha val="55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4389120" y="4032504"/>
            <a:ext cx="41148" cy="41148"/>
          </a:xfrm>
          <a:prstGeom prst="ellipse">
            <a:avLst/>
          </a:prstGeom>
          <a:solidFill>
            <a:srgbClr val="F28C28">
              <a:alpha val="55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>
            <a:off x="5074920" y="4160520"/>
            <a:ext cx="41148" cy="41148"/>
          </a:xfrm>
          <a:prstGeom prst="ellipse">
            <a:avLst/>
          </a:prstGeom>
          <a:solidFill>
            <a:srgbClr val="FFFFFF">
              <a:alpha val="55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5760720" y="3968496"/>
            <a:ext cx="41148" cy="41148"/>
          </a:xfrm>
          <a:prstGeom prst="ellipse">
            <a:avLst/>
          </a:prstGeom>
          <a:solidFill>
            <a:srgbClr val="FFFFFF">
              <a:alpha val="55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>
            <a:off x="6446520" y="4096512"/>
            <a:ext cx="41148" cy="41148"/>
          </a:xfrm>
          <a:prstGeom prst="ellipse">
            <a:avLst/>
          </a:prstGeom>
          <a:solidFill>
            <a:srgbClr val="F28C28">
              <a:alpha val="55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>
            <a:off x="7132320" y="3904488"/>
            <a:ext cx="41148" cy="41148"/>
          </a:xfrm>
          <a:prstGeom prst="ellipse">
            <a:avLst/>
          </a:prstGeom>
          <a:solidFill>
            <a:srgbClr val="FFFFFF">
              <a:alpha val="55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>
            <a:off x="7818120" y="4032504"/>
            <a:ext cx="41148" cy="41148"/>
          </a:xfrm>
          <a:prstGeom prst="ellipse">
            <a:avLst/>
          </a:prstGeom>
          <a:solidFill>
            <a:srgbClr val="FFFFFF">
              <a:alpha val="55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>
            <a:off x="8503920" y="4160520"/>
            <a:ext cx="41148" cy="41148"/>
          </a:xfrm>
          <a:prstGeom prst="ellipse">
            <a:avLst/>
          </a:prstGeom>
          <a:solidFill>
            <a:srgbClr val="F28C28">
              <a:alpha val="55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>
            <a:off x="9189720" y="3968496"/>
            <a:ext cx="41148" cy="41148"/>
          </a:xfrm>
          <a:prstGeom prst="ellipse">
            <a:avLst/>
          </a:prstGeom>
          <a:solidFill>
            <a:srgbClr val="FFFFFF">
              <a:alpha val="55000"/>
            </a:srgbClr>
          </a:solidFill>
          <a:ln/>
        </p:spPr>
      </p:sp>
      <p:sp>
        <p:nvSpPr>
          <p:cNvPr id="19" name="Text 17"/>
          <p:cNvSpPr/>
          <p:nvPr/>
        </p:nvSpPr>
        <p:spPr>
          <a:xfrm>
            <a:off x="457200" y="3200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spc="300" kern="0" dirty="0">
                <a:solidFill>
                  <a:srgbClr val="F28C2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CRAFT N CODE 2.0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1051560"/>
            <a:ext cx="82296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BAHI</a:t>
            </a:r>
            <a:endParaRPr lang="en-US" sz="7200" dirty="0"/>
          </a:p>
        </p:txBody>
      </p:sp>
      <p:sp>
        <p:nvSpPr>
          <p:cNvPr id="21" name="Text 19"/>
          <p:cNvSpPr/>
          <p:nvPr/>
        </p:nvSpPr>
        <p:spPr>
          <a:xfrm>
            <a:off x="731520" y="2057400"/>
            <a:ext cx="7680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C9B8A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Member-Witnessed Verification Layer for the SHG Digital Ledger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640080" y="2880360"/>
            <a:ext cx="768096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28C2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Title</a:t>
            </a:r>
            <a:endParaRPr lang="en-US" sz="13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5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person who records the money is no longer the only proof.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28C2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Track</a:t>
            </a:r>
            <a:endParaRPr lang="en-US" sz="13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5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PS-17  SHG Digital Ledger - Tamper-Evident Financial Logs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28C2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Team Name (as registered)</a:t>
            </a:r>
            <a:endParaRPr lang="en-US" sz="1300" dirty="0"/>
          </a:p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Team 511  (confirm against portal at login)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D0B0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371600" y="4160520"/>
            <a:ext cx="11887200" cy="1005840"/>
          </a:xfrm>
          <a:prstGeom prst="ellipse">
            <a:avLst/>
          </a:prstGeom>
          <a:solidFill>
            <a:srgbClr val="F28C28">
              <a:alpha val="12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731520" y="4416552"/>
            <a:ext cx="10607040" cy="777240"/>
          </a:xfrm>
          <a:prstGeom prst="ellipse">
            <a:avLst/>
          </a:prstGeom>
          <a:solidFill>
            <a:srgbClr val="F28C28">
              <a:alpha val="2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182880" y="4663440"/>
            <a:ext cx="8778240" cy="640080"/>
          </a:xfrm>
          <a:prstGeom prst="ellipse">
            <a:avLst/>
          </a:prstGeom>
          <a:solidFill>
            <a:srgbClr val="F28C28">
              <a:alpha val="34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274320" y="4178808"/>
            <a:ext cx="41148" cy="41148"/>
          </a:xfrm>
          <a:prstGeom prst="ellipse">
            <a:avLst/>
          </a:prstGeom>
          <a:solidFill>
            <a:srgbClr val="F28C28">
              <a:alpha val="55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960120" y="4306824"/>
            <a:ext cx="41148" cy="41148"/>
          </a:xfrm>
          <a:prstGeom prst="ellipse">
            <a:avLst/>
          </a:prstGeom>
          <a:solidFill>
            <a:srgbClr val="FFFFFF">
              <a:alpha val="55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1645920" y="4434840"/>
            <a:ext cx="41148" cy="41148"/>
          </a:xfrm>
          <a:prstGeom prst="ellipse">
            <a:avLst/>
          </a:prstGeom>
          <a:solidFill>
            <a:srgbClr val="FFFFFF">
              <a:alpha val="55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2331720" y="4242816"/>
            <a:ext cx="41148" cy="41148"/>
          </a:xfrm>
          <a:prstGeom prst="ellipse">
            <a:avLst/>
          </a:prstGeom>
          <a:solidFill>
            <a:srgbClr val="F28C28">
              <a:alpha val="55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3017520" y="4370832"/>
            <a:ext cx="41148" cy="41148"/>
          </a:xfrm>
          <a:prstGeom prst="ellipse">
            <a:avLst/>
          </a:prstGeom>
          <a:solidFill>
            <a:srgbClr val="FFFFFF">
              <a:alpha val="55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3703320" y="4178808"/>
            <a:ext cx="41148" cy="41148"/>
          </a:xfrm>
          <a:prstGeom prst="ellipse">
            <a:avLst/>
          </a:prstGeom>
          <a:solidFill>
            <a:srgbClr val="FFFFFF">
              <a:alpha val="55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4389120" y="4306824"/>
            <a:ext cx="41148" cy="41148"/>
          </a:xfrm>
          <a:prstGeom prst="ellipse">
            <a:avLst/>
          </a:prstGeom>
          <a:solidFill>
            <a:srgbClr val="F28C28">
              <a:alpha val="55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>
            <a:off x="5074920" y="4434840"/>
            <a:ext cx="41148" cy="41148"/>
          </a:xfrm>
          <a:prstGeom prst="ellipse">
            <a:avLst/>
          </a:prstGeom>
          <a:solidFill>
            <a:srgbClr val="FFFFFF">
              <a:alpha val="55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5760720" y="4242816"/>
            <a:ext cx="41148" cy="41148"/>
          </a:xfrm>
          <a:prstGeom prst="ellipse">
            <a:avLst/>
          </a:prstGeom>
          <a:solidFill>
            <a:srgbClr val="FFFFFF">
              <a:alpha val="55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>
            <a:off x="6446520" y="4370832"/>
            <a:ext cx="41148" cy="41148"/>
          </a:xfrm>
          <a:prstGeom prst="ellipse">
            <a:avLst/>
          </a:prstGeom>
          <a:solidFill>
            <a:srgbClr val="F28C28">
              <a:alpha val="55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>
            <a:off x="7132320" y="4178808"/>
            <a:ext cx="41148" cy="41148"/>
          </a:xfrm>
          <a:prstGeom prst="ellipse">
            <a:avLst/>
          </a:prstGeom>
          <a:solidFill>
            <a:srgbClr val="FFFFFF">
              <a:alpha val="55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>
            <a:off x="7818120" y="4306824"/>
            <a:ext cx="41148" cy="41148"/>
          </a:xfrm>
          <a:prstGeom prst="ellipse">
            <a:avLst/>
          </a:prstGeom>
          <a:solidFill>
            <a:srgbClr val="FFFFFF">
              <a:alpha val="55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>
            <a:off x="8503920" y="4434840"/>
            <a:ext cx="41148" cy="41148"/>
          </a:xfrm>
          <a:prstGeom prst="ellipse">
            <a:avLst/>
          </a:prstGeom>
          <a:solidFill>
            <a:srgbClr val="F28C28">
              <a:alpha val="55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>
            <a:off x="9189720" y="4242816"/>
            <a:ext cx="41148" cy="41148"/>
          </a:xfrm>
          <a:prstGeom prst="ellipse">
            <a:avLst/>
          </a:prstGeom>
          <a:solidFill>
            <a:srgbClr val="FFFFFF">
              <a:alpha val="55000"/>
            </a:srgbClr>
          </a:solidFill>
          <a:ln/>
        </p:spPr>
      </p:sp>
      <p:sp>
        <p:nvSpPr>
          <p:cNvPr id="19" name="Text 17"/>
          <p:cNvSpPr/>
          <p:nvPr/>
        </p:nvSpPr>
        <p:spPr>
          <a:xfrm>
            <a:off x="320040" y="164592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spc="200" kern="0" dirty="0">
                <a:solidFill>
                  <a:srgbClr val="F28C2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CRAFT N CODE 2.0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6080760" y="164592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C9B8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BAHI  |  R1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8503920" y="4828032"/>
            <a:ext cx="5029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C9B8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20040" y="475488"/>
            <a:ext cx="8503920" cy="0"/>
          </a:xfrm>
          <a:prstGeom prst="line">
            <a:avLst/>
          </a:prstGeom>
          <a:noFill/>
          <a:ln w="9525">
            <a:solidFill>
              <a:srgbClr val="F28C28">
                <a:alpha val="45000"/>
              </a:srgbClr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48640" y="658368"/>
            <a:ext cx="80467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Problem Statement</a:t>
            </a:r>
            <a:endParaRPr lang="en-US" sz="3000" dirty="0"/>
          </a:p>
        </p:txBody>
      </p:sp>
      <p:sp>
        <p:nvSpPr>
          <p:cNvPr id="24" name="Shape 22"/>
          <p:cNvSpPr/>
          <p:nvPr/>
        </p:nvSpPr>
        <p:spPr>
          <a:xfrm>
            <a:off x="548640" y="1783080"/>
            <a:ext cx="8046720" cy="2880360"/>
          </a:xfrm>
          <a:prstGeom prst="roundRect">
            <a:avLst>
              <a:gd name="adj" fmla="val 1905"/>
            </a:avLst>
          </a:prstGeom>
          <a:solidFill>
            <a:srgbClr val="6B3A33"/>
          </a:solidFill>
          <a:ln w="6350">
            <a:solidFill>
              <a:srgbClr val="8C5A4E">
                <a:alpha val="60000"/>
              </a:srgbClr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68680" y="2011680"/>
            <a:ext cx="7406640" cy="2377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500"/>
              </a:lnSpc>
              <a:spcAft>
                <a:spcPts val="1000"/>
              </a:spcAft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 crore+ SHGs still run on handwritten registers.</a:t>
            </a:r>
            <a:endParaRPr lang="en-US" sz="1400" dirty="0"/>
          </a:p>
          <a:p>
            <a:pPr indent="0" marL="0">
              <a:lnSpc>
                <a:spcPts val="1500"/>
              </a:lnSpc>
              <a:spcAft>
                <a:spcPts val="1200"/>
              </a:spcAft>
              <a:buNone/>
            </a:pPr>
            <a:r>
              <a:rPr lang="en-US" sz="12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Bookkeeping errors, disputes over who owes what, and embezzlement by office-bearers often go undetected until the savings are gone.</a:t>
            </a:r>
            <a:endParaRPr lang="en-US" sz="1400" dirty="0"/>
          </a:p>
          <a:p>
            <a:pPr indent="0" marL="0">
              <a:lnSpc>
                <a:spcPts val="1500"/>
              </a:lnSpc>
              <a:spcAft>
                <a:spcPts val="1200"/>
              </a:spcAft>
              <a:buNone/>
            </a:pPr>
            <a:r>
              <a:rPr lang="en-US" sz="12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Scale: 10.03 crore women members (DAY-NRLM), 144.22 lakh savings-linked SHG bank accounts (NABARD).</a:t>
            </a:r>
            <a:endParaRPr lang="en-US" sz="1400" dirty="0"/>
          </a:p>
          <a:p>
            <a:pPr indent="0" marL="0">
              <a:lnSpc>
                <a:spcPts val="1500"/>
              </a:lnSpc>
              <a:spcAft>
                <a:spcPts val="1200"/>
              </a:spcAft>
              <a:buNone/>
            </a:pPr>
            <a:r>
              <a:rPr lang="en-US" sz="12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LokOS already digitizes the books (94.16 lakh SHGs). But it is server-authoritative: a member cannot verify a single entry about her own money, offline, ever.</a:t>
            </a:r>
            <a:endParaRPr lang="en-US" sz="14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gap is not digitization. It is verification.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D0B0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371600" y="4160520"/>
            <a:ext cx="11887200" cy="1005840"/>
          </a:xfrm>
          <a:prstGeom prst="ellipse">
            <a:avLst/>
          </a:prstGeom>
          <a:solidFill>
            <a:srgbClr val="F28C28">
              <a:alpha val="12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731520" y="4416552"/>
            <a:ext cx="10607040" cy="777240"/>
          </a:xfrm>
          <a:prstGeom prst="ellipse">
            <a:avLst/>
          </a:prstGeom>
          <a:solidFill>
            <a:srgbClr val="F28C28">
              <a:alpha val="2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182880" y="4663440"/>
            <a:ext cx="8778240" cy="640080"/>
          </a:xfrm>
          <a:prstGeom prst="ellipse">
            <a:avLst/>
          </a:prstGeom>
          <a:solidFill>
            <a:srgbClr val="F28C28">
              <a:alpha val="34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274320" y="4178808"/>
            <a:ext cx="41148" cy="41148"/>
          </a:xfrm>
          <a:prstGeom prst="ellipse">
            <a:avLst/>
          </a:prstGeom>
          <a:solidFill>
            <a:srgbClr val="F28C28">
              <a:alpha val="55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960120" y="4306824"/>
            <a:ext cx="41148" cy="41148"/>
          </a:xfrm>
          <a:prstGeom prst="ellipse">
            <a:avLst/>
          </a:prstGeom>
          <a:solidFill>
            <a:srgbClr val="FFFFFF">
              <a:alpha val="55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1645920" y="4434840"/>
            <a:ext cx="41148" cy="41148"/>
          </a:xfrm>
          <a:prstGeom prst="ellipse">
            <a:avLst/>
          </a:prstGeom>
          <a:solidFill>
            <a:srgbClr val="FFFFFF">
              <a:alpha val="55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2331720" y="4242816"/>
            <a:ext cx="41148" cy="41148"/>
          </a:xfrm>
          <a:prstGeom prst="ellipse">
            <a:avLst/>
          </a:prstGeom>
          <a:solidFill>
            <a:srgbClr val="F28C28">
              <a:alpha val="55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3017520" y="4370832"/>
            <a:ext cx="41148" cy="41148"/>
          </a:xfrm>
          <a:prstGeom prst="ellipse">
            <a:avLst/>
          </a:prstGeom>
          <a:solidFill>
            <a:srgbClr val="FFFFFF">
              <a:alpha val="55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3703320" y="4178808"/>
            <a:ext cx="41148" cy="41148"/>
          </a:xfrm>
          <a:prstGeom prst="ellipse">
            <a:avLst/>
          </a:prstGeom>
          <a:solidFill>
            <a:srgbClr val="FFFFFF">
              <a:alpha val="55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4389120" y="4306824"/>
            <a:ext cx="41148" cy="41148"/>
          </a:xfrm>
          <a:prstGeom prst="ellipse">
            <a:avLst/>
          </a:prstGeom>
          <a:solidFill>
            <a:srgbClr val="F28C28">
              <a:alpha val="55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>
            <a:off x="5074920" y="4434840"/>
            <a:ext cx="41148" cy="41148"/>
          </a:xfrm>
          <a:prstGeom prst="ellipse">
            <a:avLst/>
          </a:prstGeom>
          <a:solidFill>
            <a:srgbClr val="FFFFFF">
              <a:alpha val="55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5760720" y="4242816"/>
            <a:ext cx="41148" cy="41148"/>
          </a:xfrm>
          <a:prstGeom prst="ellipse">
            <a:avLst/>
          </a:prstGeom>
          <a:solidFill>
            <a:srgbClr val="FFFFFF">
              <a:alpha val="55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>
            <a:off x="6446520" y="4370832"/>
            <a:ext cx="41148" cy="41148"/>
          </a:xfrm>
          <a:prstGeom prst="ellipse">
            <a:avLst/>
          </a:prstGeom>
          <a:solidFill>
            <a:srgbClr val="F28C28">
              <a:alpha val="55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>
            <a:off x="7132320" y="4178808"/>
            <a:ext cx="41148" cy="41148"/>
          </a:xfrm>
          <a:prstGeom prst="ellipse">
            <a:avLst/>
          </a:prstGeom>
          <a:solidFill>
            <a:srgbClr val="FFFFFF">
              <a:alpha val="55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>
            <a:off x="7818120" y="4306824"/>
            <a:ext cx="41148" cy="41148"/>
          </a:xfrm>
          <a:prstGeom prst="ellipse">
            <a:avLst/>
          </a:prstGeom>
          <a:solidFill>
            <a:srgbClr val="FFFFFF">
              <a:alpha val="55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>
            <a:off x="8503920" y="4434840"/>
            <a:ext cx="41148" cy="41148"/>
          </a:xfrm>
          <a:prstGeom prst="ellipse">
            <a:avLst/>
          </a:prstGeom>
          <a:solidFill>
            <a:srgbClr val="F28C28">
              <a:alpha val="55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>
            <a:off x="9189720" y="4242816"/>
            <a:ext cx="41148" cy="41148"/>
          </a:xfrm>
          <a:prstGeom prst="ellipse">
            <a:avLst/>
          </a:prstGeom>
          <a:solidFill>
            <a:srgbClr val="FFFFFF">
              <a:alpha val="55000"/>
            </a:srgbClr>
          </a:solidFill>
          <a:ln/>
        </p:spPr>
      </p:sp>
      <p:sp>
        <p:nvSpPr>
          <p:cNvPr id="19" name="Text 17"/>
          <p:cNvSpPr/>
          <p:nvPr/>
        </p:nvSpPr>
        <p:spPr>
          <a:xfrm>
            <a:off x="320040" y="164592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spc="200" kern="0" dirty="0">
                <a:solidFill>
                  <a:srgbClr val="F28C2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CRAFT N CODE 2.0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6080760" y="164592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C9B8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BAHI  |  R1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8503920" y="4828032"/>
            <a:ext cx="5029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C9B8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20040" y="475488"/>
            <a:ext cx="8503920" cy="0"/>
          </a:xfrm>
          <a:prstGeom prst="line">
            <a:avLst/>
          </a:prstGeom>
          <a:noFill/>
          <a:ln w="9525">
            <a:solidFill>
              <a:srgbClr val="F28C28">
                <a:alpha val="45000"/>
              </a:srgbClr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48640" y="658368"/>
            <a:ext cx="80467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Technical Approach</a:t>
            </a:r>
            <a:endParaRPr lang="en-US" sz="3000" dirty="0"/>
          </a:p>
        </p:txBody>
      </p:sp>
      <p:sp>
        <p:nvSpPr>
          <p:cNvPr id="24" name="Text 22"/>
          <p:cNvSpPr/>
          <p:nvPr/>
        </p:nvSpPr>
        <p:spPr>
          <a:xfrm>
            <a:off x="548640" y="1316736"/>
            <a:ext cx="8046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C9B8A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Stack and method, chosen for the 7h window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548640" y="1737360"/>
            <a:ext cx="3886200" cy="2926080"/>
          </a:xfrm>
          <a:prstGeom prst="roundRect">
            <a:avLst>
              <a:gd name="adj" fmla="val 1875"/>
            </a:avLst>
          </a:prstGeom>
          <a:solidFill>
            <a:srgbClr val="6B3A33"/>
          </a:solidFill>
          <a:ln w="6350">
            <a:solidFill>
              <a:srgbClr val="8C5A4E">
                <a:alpha val="60000"/>
              </a:srgbClr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" y="1874520"/>
            <a:ext cx="3474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28C2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Tech Stack</a:t>
            </a:r>
            <a:endParaRPr lang="en-US" sz="1700" dirty="0"/>
          </a:p>
        </p:txBody>
      </p:sp>
      <p:sp>
        <p:nvSpPr>
          <p:cNvPr id="27" name="Text 25"/>
          <p:cNvSpPr/>
          <p:nvPr/>
        </p:nvSpPr>
        <p:spPr>
          <a:xfrm>
            <a:off x="777240" y="2240280"/>
            <a:ext cx="35204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52400" indent="-152400">
              <a:lnSpc>
                <a:spcPts val="14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Python 3.11+ stdlib only, zero dependencies</a:t>
            </a:r>
            <a:endParaRPr lang="en-US" sz="1150" dirty="0"/>
          </a:p>
          <a:p>
            <a:pPr marL="152400" indent="-152400">
              <a:lnSpc>
                <a:spcPts val="14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SHA-256 hash chain (append-only)</a:t>
            </a:r>
            <a:endParaRPr lang="en-US" sz="1150" dirty="0"/>
          </a:p>
          <a:p>
            <a:pPr marL="152400" indent="-152400">
              <a:lnSpc>
                <a:spcPts val="14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HMAC-SHA256 witness MACs, demo-mode label</a:t>
            </a:r>
            <a:endParaRPr lang="en-US" sz="1150" dirty="0"/>
          </a:p>
          <a:p>
            <a:pPr marL="152400" indent="-152400">
              <a:lnSpc>
                <a:spcPts val="14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SQLite transactional state</a:t>
            </a:r>
            <a:endParaRPr lang="en-US" sz="1150" dirty="0"/>
          </a:p>
          <a:p>
            <a:pPr marL="152400" indent="-152400">
              <a:lnSpc>
                <a:spcPts val="14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Static HTML/CSS/JS UI, loopback server</a:t>
            </a:r>
            <a:endParaRPr lang="en-US" sz="1150" dirty="0"/>
          </a:p>
          <a:p>
            <a:pPr marL="152400" indent="-152400">
              <a:lnSpc>
                <a:spcPts val="14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QR receipts, printable, byte-short</a:t>
            </a:r>
            <a:endParaRPr lang="en-US" sz="1150" dirty="0"/>
          </a:p>
          <a:p>
            <a:pPr marL="152400" indent="-152400">
              <a:lnSpc>
                <a:spcPts val="14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Fully offline, zero APIs at runtime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4709160" y="1737360"/>
            <a:ext cx="3886200" cy="2926080"/>
          </a:xfrm>
          <a:prstGeom prst="roundRect">
            <a:avLst>
              <a:gd name="adj" fmla="val 1875"/>
            </a:avLst>
          </a:prstGeom>
          <a:solidFill>
            <a:srgbClr val="6B3A33"/>
          </a:solidFill>
          <a:ln w="6350">
            <a:solidFill>
              <a:srgbClr val="8C5A4E">
                <a:alpha val="60000"/>
              </a:srgbClr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937760" y="1874520"/>
            <a:ext cx="3474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28C2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Methodology</a:t>
            </a:r>
            <a:endParaRPr lang="en-US" sz="1700" dirty="0"/>
          </a:p>
        </p:txBody>
      </p:sp>
      <p:sp>
        <p:nvSpPr>
          <p:cNvPr id="30" name="Text 28"/>
          <p:cNvSpPr/>
          <p:nvPr/>
        </p:nvSpPr>
        <p:spPr>
          <a:xfrm>
            <a:off x="4937760" y="2240280"/>
            <a:ext cx="35204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52400" indent="-152400">
              <a:lnSpc>
                <a:spcPts val="14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4-icon entry (contribution, loan, repayment, correction) + voice repeat</a:t>
            </a:r>
            <a:endParaRPr lang="en-US" sz="1150" dirty="0"/>
          </a:p>
          <a:p>
            <a:pPr marL="152400" indent="-152400">
              <a:lnSpc>
                <a:spcPts val="14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Green-tick confirm before any event enters the chain</a:t>
            </a:r>
            <a:endParaRPr lang="en-US" sz="1150" dirty="0"/>
          </a:p>
          <a:p>
            <a:pPr marL="152400" indent="-152400">
              <a:lnSpc>
                <a:spcPts val="14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Append-only: no UPDATE, no DELETE. Corrections = reversal + replacement</a:t>
            </a:r>
            <a:endParaRPr lang="en-US" sz="1150" dirty="0"/>
          </a:p>
          <a:p>
            <a:pPr marL="152400" indent="-152400">
              <a:lnSpc>
                <a:spcPts val="14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 witness keys sign the meeting-close root</a:t>
            </a:r>
            <a:endParaRPr lang="en-US" sz="1150" dirty="0"/>
          </a:p>
          <a:p>
            <a:pPr marL="152400" indent="-152400">
              <a:lnSpc>
                <a:spcPts val="14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Member receipt: root + witnesses, QR or text</a:t>
            </a:r>
            <a:endParaRPr lang="en-US" sz="1150" dirty="0"/>
          </a:p>
          <a:p>
            <a:pPr marL="152400" indent="-152400">
              <a:lnSpc>
                <a:spcPts val="14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Verification recomputes every hash, offline: MATCH or FORK AT EVENT n</a:t>
            </a:r>
            <a:endParaRPr lang="en-US" sz="1150" dirty="0"/>
          </a:p>
          <a:p>
            <a:pPr marL="152400" indent="-152400">
              <a:lnSpc>
                <a:spcPts val="14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Deterministic: same files, same bytes, same verdict</a:t>
            </a:r>
            <a:endParaRPr lang="en-US" sz="11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D0B0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371600" y="4160520"/>
            <a:ext cx="11887200" cy="1005840"/>
          </a:xfrm>
          <a:prstGeom prst="ellipse">
            <a:avLst/>
          </a:prstGeom>
          <a:solidFill>
            <a:srgbClr val="F28C28">
              <a:alpha val="12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731520" y="4416552"/>
            <a:ext cx="10607040" cy="777240"/>
          </a:xfrm>
          <a:prstGeom prst="ellipse">
            <a:avLst/>
          </a:prstGeom>
          <a:solidFill>
            <a:srgbClr val="F28C28">
              <a:alpha val="2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182880" y="4663440"/>
            <a:ext cx="8778240" cy="640080"/>
          </a:xfrm>
          <a:prstGeom prst="ellipse">
            <a:avLst/>
          </a:prstGeom>
          <a:solidFill>
            <a:srgbClr val="F28C28">
              <a:alpha val="34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274320" y="4178808"/>
            <a:ext cx="41148" cy="41148"/>
          </a:xfrm>
          <a:prstGeom prst="ellipse">
            <a:avLst/>
          </a:prstGeom>
          <a:solidFill>
            <a:srgbClr val="F28C28">
              <a:alpha val="55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960120" y="4306824"/>
            <a:ext cx="41148" cy="41148"/>
          </a:xfrm>
          <a:prstGeom prst="ellipse">
            <a:avLst/>
          </a:prstGeom>
          <a:solidFill>
            <a:srgbClr val="FFFFFF">
              <a:alpha val="55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1645920" y="4434840"/>
            <a:ext cx="41148" cy="41148"/>
          </a:xfrm>
          <a:prstGeom prst="ellipse">
            <a:avLst/>
          </a:prstGeom>
          <a:solidFill>
            <a:srgbClr val="FFFFFF">
              <a:alpha val="55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2331720" y="4242816"/>
            <a:ext cx="41148" cy="41148"/>
          </a:xfrm>
          <a:prstGeom prst="ellipse">
            <a:avLst/>
          </a:prstGeom>
          <a:solidFill>
            <a:srgbClr val="F28C28">
              <a:alpha val="55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3017520" y="4370832"/>
            <a:ext cx="41148" cy="41148"/>
          </a:xfrm>
          <a:prstGeom prst="ellipse">
            <a:avLst/>
          </a:prstGeom>
          <a:solidFill>
            <a:srgbClr val="FFFFFF">
              <a:alpha val="55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3703320" y="4178808"/>
            <a:ext cx="41148" cy="41148"/>
          </a:xfrm>
          <a:prstGeom prst="ellipse">
            <a:avLst/>
          </a:prstGeom>
          <a:solidFill>
            <a:srgbClr val="FFFFFF">
              <a:alpha val="55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4389120" y="4306824"/>
            <a:ext cx="41148" cy="41148"/>
          </a:xfrm>
          <a:prstGeom prst="ellipse">
            <a:avLst/>
          </a:prstGeom>
          <a:solidFill>
            <a:srgbClr val="F28C28">
              <a:alpha val="55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>
            <a:off x="5074920" y="4434840"/>
            <a:ext cx="41148" cy="41148"/>
          </a:xfrm>
          <a:prstGeom prst="ellipse">
            <a:avLst/>
          </a:prstGeom>
          <a:solidFill>
            <a:srgbClr val="FFFFFF">
              <a:alpha val="55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5760720" y="4242816"/>
            <a:ext cx="41148" cy="41148"/>
          </a:xfrm>
          <a:prstGeom prst="ellipse">
            <a:avLst/>
          </a:prstGeom>
          <a:solidFill>
            <a:srgbClr val="FFFFFF">
              <a:alpha val="55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>
            <a:off x="6446520" y="4370832"/>
            <a:ext cx="41148" cy="41148"/>
          </a:xfrm>
          <a:prstGeom prst="ellipse">
            <a:avLst/>
          </a:prstGeom>
          <a:solidFill>
            <a:srgbClr val="F28C28">
              <a:alpha val="55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>
            <a:off x="7132320" y="4178808"/>
            <a:ext cx="41148" cy="41148"/>
          </a:xfrm>
          <a:prstGeom prst="ellipse">
            <a:avLst/>
          </a:prstGeom>
          <a:solidFill>
            <a:srgbClr val="FFFFFF">
              <a:alpha val="55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>
            <a:off x="7818120" y="4306824"/>
            <a:ext cx="41148" cy="41148"/>
          </a:xfrm>
          <a:prstGeom prst="ellipse">
            <a:avLst/>
          </a:prstGeom>
          <a:solidFill>
            <a:srgbClr val="FFFFFF">
              <a:alpha val="55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>
            <a:off x="8503920" y="4434840"/>
            <a:ext cx="41148" cy="41148"/>
          </a:xfrm>
          <a:prstGeom prst="ellipse">
            <a:avLst/>
          </a:prstGeom>
          <a:solidFill>
            <a:srgbClr val="F28C28">
              <a:alpha val="55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>
            <a:off x="9189720" y="4242816"/>
            <a:ext cx="41148" cy="41148"/>
          </a:xfrm>
          <a:prstGeom prst="ellipse">
            <a:avLst/>
          </a:prstGeom>
          <a:solidFill>
            <a:srgbClr val="FFFFFF">
              <a:alpha val="55000"/>
            </a:srgbClr>
          </a:solidFill>
          <a:ln/>
        </p:spPr>
      </p:sp>
      <p:sp>
        <p:nvSpPr>
          <p:cNvPr id="19" name="Text 17"/>
          <p:cNvSpPr/>
          <p:nvPr/>
        </p:nvSpPr>
        <p:spPr>
          <a:xfrm>
            <a:off x="320040" y="164592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spc="200" kern="0" dirty="0">
                <a:solidFill>
                  <a:srgbClr val="F28C2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CRAFT N CODE 2.0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6080760" y="164592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C9B8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BAHI  |  R1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8503920" y="4828032"/>
            <a:ext cx="5029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C9B8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20040" y="475488"/>
            <a:ext cx="8503920" cy="0"/>
          </a:xfrm>
          <a:prstGeom prst="line">
            <a:avLst/>
          </a:prstGeom>
          <a:noFill/>
          <a:ln w="9525">
            <a:solidFill>
              <a:srgbClr val="F28C28">
                <a:alpha val="45000"/>
              </a:srgbClr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48640" y="658368"/>
            <a:ext cx="80467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Implementation and Flow</a:t>
            </a:r>
            <a:endParaRPr lang="en-US" sz="3000" dirty="0"/>
          </a:p>
        </p:txBody>
      </p:sp>
      <p:sp>
        <p:nvSpPr>
          <p:cNvPr id="24" name="Shape 22"/>
          <p:cNvSpPr/>
          <p:nvPr/>
        </p:nvSpPr>
        <p:spPr>
          <a:xfrm>
            <a:off x="502920" y="2148840"/>
            <a:ext cx="1554480" cy="685800"/>
          </a:xfrm>
          <a:prstGeom prst="roundRect">
            <a:avLst>
              <a:gd name="adj" fmla="val 10667"/>
            </a:avLst>
          </a:prstGeom>
          <a:solidFill>
            <a:srgbClr val="6B3A33"/>
          </a:solidFill>
          <a:ln w="9525">
            <a:solidFill>
              <a:srgbClr val="F28C28">
                <a:alpha val="70000"/>
              </a:srgbClr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48640" y="2212848"/>
            <a:ext cx="1463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Member taps icon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2057400" y="2487168"/>
            <a:ext cx="685800" cy="0"/>
          </a:xfrm>
          <a:prstGeom prst="line">
            <a:avLst/>
          </a:prstGeom>
          <a:noFill/>
          <a:ln w="19050">
            <a:solidFill>
              <a:srgbClr val="F28C28"/>
            </a:solidFill>
            <a:prstDash val="solid"/>
            <a:tailEnd type="triangle"/>
          </a:ln>
        </p:spPr>
      </p:sp>
      <p:sp>
        <p:nvSpPr>
          <p:cNvPr id="27" name="Shape 25"/>
          <p:cNvSpPr/>
          <p:nvPr/>
        </p:nvSpPr>
        <p:spPr>
          <a:xfrm>
            <a:off x="2240280" y="2148840"/>
            <a:ext cx="1554480" cy="685800"/>
          </a:xfrm>
          <a:prstGeom prst="roundRect">
            <a:avLst>
              <a:gd name="adj" fmla="val 10667"/>
            </a:avLst>
          </a:prstGeom>
          <a:solidFill>
            <a:srgbClr val="6B3A33"/>
          </a:solidFill>
          <a:ln w="9525">
            <a:solidFill>
              <a:srgbClr val="F28C28">
                <a:alpha val="70000"/>
              </a:srgbClr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2286000" y="2212848"/>
            <a:ext cx="1463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Voice repeat, green tick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3794760" y="2487168"/>
            <a:ext cx="685800" cy="0"/>
          </a:xfrm>
          <a:prstGeom prst="line">
            <a:avLst/>
          </a:prstGeom>
          <a:noFill/>
          <a:ln w="19050">
            <a:solidFill>
              <a:srgbClr val="F28C28"/>
            </a:solidFill>
            <a:prstDash val="solid"/>
            <a:tailEnd type="triangle"/>
          </a:ln>
        </p:spPr>
      </p:sp>
      <p:sp>
        <p:nvSpPr>
          <p:cNvPr id="30" name="Shape 28"/>
          <p:cNvSpPr/>
          <p:nvPr/>
        </p:nvSpPr>
        <p:spPr>
          <a:xfrm>
            <a:off x="3977640" y="2148840"/>
            <a:ext cx="1554480" cy="685800"/>
          </a:xfrm>
          <a:prstGeom prst="roundRect">
            <a:avLst>
              <a:gd name="adj" fmla="val 10667"/>
            </a:avLst>
          </a:prstGeom>
          <a:solidFill>
            <a:srgbClr val="6B3A33"/>
          </a:solidFill>
          <a:ln w="9525">
            <a:solidFill>
              <a:srgbClr val="F28C28">
                <a:alpha val="70000"/>
              </a:srgbClr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023360" y="2212848"/>
            <a:ext cx="1463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Event appended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5532120" y="2487168"/>
            <a:ext cx="685800" cy="0"/>
          </a:xfrm>
          <a:prstGeom prst="line">
            <a:avLst/>
          </a:prstGeom>
          <a:noFill/>
          <a:ln w="19050">
            <a:solidFill>
              <a:srgbClr val="F28C28"/>
            </a:solidFill>
            <a:prstDash val="solid"/>
            <a:tailEnd type="triangle"/>
          </a:ln>
        </p:spPr>
      </p:sp>
      <p:sp>
        <p:nvSpPr>
          <p:cNvPr id="33" name="Shape 31"/>
          <p:cNvSpPr/>
          <p:nvPr/>
        </p:nvSpPr>
        <p:spPr>
          <a:xfrm>
            <a:off x="5715000" y="2148840"/>
            <a:ext cx="1554480" cy="685800"/>
          </a:xfrm>
          <a:prstGeom prst="roundRect">
            <a:avLst>
              <a:gd name="adj" fmla="val 10667"/>
            </a:avLst>
          </a:prstGeom>
          <a:solidFill>
            <a:srgbClr val="6B3A33"/>
          </a:solidFill>
          <a:ln w="9525">
            <a:solidFill>
              <a:srgbClr val="F28C28">
                <a:alpha val="70000"/>
              </a:srgbClr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760720" y="2212848"/>
            <a:ext cx="1463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Meeting close, 2 witnesses sign</a:t>
            </a:r>
            <a:endParaRPr lang="en-US" sz="950" dirty="0"/>
          </a:p>
        </p:txBody>
      </p:sp>
      <p:sp>
        <p:nvSpPr>
          <p:cNvPr id="35" name="Shape 33"/>
          <p:cNvSpPr/>
          <p:nvPr/>
        </p:nvSpPr>
        <p:spPr>
          <a:xfrm>
            <a:off x="7269480" y="2487168"/>
            <a:ext cx="685800" cy="0"/>
          </a:xfrm>
          <a:prstGeom prst="line">
            <a:avLst/>
          </a:prstGeom>
          <a:noFill/>
          <a:ln w="19050">
            <a:solidFill>
              <a:srgbClr val="F28C28"/>
            </a:solidFill>
            <a:prstDash val="solid"/>
            <a:tailEnd type="triangle"/>
          </a:ln>
        </p:spPr>
      </p:sp>
      <p:sp>
        <p:nvSpPr>
          <p:cNvPr id="36" name="Shape 34"/>
          <p:cNvSpPr/>
          <p:nvPr/>
        </p:nvSpPr>
        <p:spPr>
          <a:xfrm>
            <a:off x="7452360" y="2148840"/>
            <a:ext cx="1554480" cy="685800"/>
          </a:xfrm>
          <a:prstGeom prst="roundRect">
            <a:avLst>
              <a:gd name="adj" fmla="val 10667"/>
            </a:avLst>
          </a:prstGeom>
          <a:solidFill>
            <a:srgbClr val="6B3A33"/>
          </a:solidFill>
          <a:ln w="9525">
            <a:solidFill>
              <a:srgbClr val="F28C28">
                <a:alpha val="70000"/>
              </a:srgbClr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7498080" y="2212848"/>
            <a:ext cx="1463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Receipt QR to member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1051560" y="3154680"/>
            <a:ext cx="1737360" cy="594360"/>
          </a:xfrm>
          <a:prstGeom prst="roundRect">
            <a:avLst>
              <a:gd name="adj" fmla="val 12308"/>
            </a:avLst>
          </a:prstGeom>
          <a:solidFill>
            <a:srgbClr val="59312B"/>
          </a:solidFill>
          <a:ln w="6350">
            <a:solidFill>
              <a:srgbClr val="C9B8A8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1097280" y="3200400"/>
            <a:ext cx="1645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Secretary exports chain files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2788920" y="3456432"/>
            <a:ext cx="640080" cy="0"/>
          </a:xfrm>
          <a:prstGeom prst="line">
            <a:avLst/>
          </a:prstGeom>
          <a:noFill/>
          <a:ln w="19050">
            <a:solidFill>
              <a:srgbClr val="C9B8A8"/>
            </a:solidFill>
            <a:prstDash val="solid"/>
            <a:tailEnd type="triangle"/>
          </a:ln>
        </p:spPr>
      </p:sp>
      <p:sp>
        <p:nvSpPr>
          <p:cNvPr id="41" name="Shape 39"/>
          <p:cNvSpPr/>
          <p:nvPr/>
        </p:nvSpPr>
        <p:spPr>
          <a:xfrm>
            <a:off x="3429000" y="3154680"/>
            <a:ext cx="1737360" cy="594360"/>
          </a:xfrm>
          <a:prstGeom prst="roundRect">
            <a:avLst>
              <a:gd name="adj" fmla="val 12308"/>
            </a:avLst>
          </a:prstGeom>
          <a:solidFill>
            <a:srgbClr val="59312B"/>
          </a:solidFill>
          <a:ln w="6350">
            <a:solidFill>
              <a:srgbClr val="C9B8A8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474720" y="3200400"/>
            <a:ext cx="1645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Auditor recomputes roots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5166360" y="3456432"/>
            <a:ext cx="548640" cy="0"/>
          </a:xfrm>
          <a:prstGeom prst="line">
            <a:avLst/>
          </a:prstGeom>
          <a:noFill/>
          <a:ln w="19050">
            <a:solidFill>
              <a:srgbClr val="C9B8A8"/>
            </a:solidFill>
            <a:prstDash val="solid"/>
            <a:tailEnd type="triangle"/>
          </a:ln>
        </p:spPr>
      </p:sp>
      <p:sp>
        <p:nvSpPr>
          <p:cNvPr id="44" name="Shape 42"/>
          <p:cNvSpPr/>
          <p:nvPr/>
        </p:nvSpPr>
        <p:spPr>
          <a:xfrm>
            <a:off x="5715000" y="3063240"/>
            <a:ext cx="1371600" cy="777240"/>
          </a:xfrm>
          <a:prstGeom prst="roundRect">
            <a:avLst>
              <a:gd name="adj" fmla="val 9412"/>
            </a:avLst>
          </a:prstGeom>
          <a:solidFill>
            <a:srgbClr val="2E7D32"/>
          </a:solidFill>
          <a:ln w="9525">
            <a:solidFill>
              <a:srgbClr val="FFFFFF">
                <a:alpha val="60000"/>
              </a:srgbClr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715000" y="315468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MATCH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5715000" y="3429000"/>
            <a:ext cx="1371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receipt verifies</a:t>
            </a:r>
            <a:endParaRPr lang="en-US" sz="850" dirty="0"/>
          </a:p>
        </p:txBody>
      </p:sp>
      <p:sp>
        <p:nvSpPr>
          <p:cNvPr id="47" name="Shape 45"/>
          <p:cNvSpPr/>
          <p:nvPr/>
        </p:nvSpPr>
        <p:spPr>
          <a:xfrm>
            <a:off x="7269480" y="3063240"/>
            <a:ext cx="1371600" cy="777240"/>
          </a:xfrm>
          <a:prstGeom prst="roundRect">
            <a:avLst>
              <a:gd name="adj" fmla="val 9412"/>
            </a:avLst>
          </a:prstGeom>
          <a:solidFill>
            <a:srgbClr val="B3261E"/>
          </a:solidFill>
          <a:ln w="9525">
            <a:solidFill>
              <a:srgbClr val="FFFFFF">
                <a:alpha val="60000"/>
              </a:srgbClr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7269480" y="315468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FORK AT n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7269480" y="3429000"/>
            <a:ext cx="1371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tamper detected</a:t>
            </a:r>
            <a:endParaRPr lang="en-US" sz="850" dirty="0"/>
          </a:p>
        </p:txBody>
      </p:sp>
      <p:sp>
        <p:nvSpPr>
          <p:cNvPr id="50" name="Shape 48"/>
          <p:cNvSpPr/>
          <p:nvPr/>
        </p:nvSpPr>
        <p:spPr>
          <a:xfrm>
            <a:off x="5715000" y="2487168"/>
            <a:ext cx="2194560" cy="0"/>
          </a:xfrm>
          <a:prstGeom prst="line">
            <a:avLst/>
          </a:prstGeom>
          <a:noFill/>
          <a:ln w="9525">
            <a:solidFill>
              <a:srgbClr val="C9B8A8">
                <a:alpha val="60000"/>
              </a:srgbClr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502920" y="4069080"/>
            <a:ext cx="813816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52400" indent="-152400">
              <a:lnSpc>
                <a:spcPts val="14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Implementation: chain.py, witness.py, receipt.py, loader.py; attack test matrix (edit, delete, reorder, double-spend)</a:t>
            </a:r>
            <a:endParaRPr lang="en-US" sz="1150" dirty="0"/>
          </a:p>
          <a:p>
            <a:pPr marL="152400" indent="-152400">
              <a:lnSpc>
                <a:spcPts val="14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Failure drill: no-network, corrupt fixture, port conflict, repeat reset. Reproducibility is auditability.</a:t>
            </a:r>
            <a:endParaRPr lang="en-US" sz="11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D0B0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371600" y="4160520"/>
            <a:ext cx="11887200" cy="1005840"/>
          </a:xfrm>
          <a:prstGeom prst="ellipse">
            <a:avLst/>
          </a:prstGeom>
          <a:solidFill>
            <a:srgbClr val="F28C28">
              <a:alpha val="12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731520" y="4416552"/>
            <a:ext cx="10607040" cy="777240"/>
          </a:xfrm>
          <a:prstGeom prst="ellipse">
            <a:avLst/>
          </a:prstGeom>
          <a:solidFill>
            <a:srgbClr val="F28C28">
              <a:alpha val="2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182880" y="4663440"/>
            <a:ext cx="8778240" cy="640080"/>
          </a:xfrm>
          <a:prstGeom prst="ellipse">
            <a:avLst/>
          </a:prstGeom>
          <a:solidFill>
            <a:srgbClr val="F28C28">
              <a:alpha val="34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274320" y="4178808"/>
            <a:ext cx="41148" cy="41148"/>
          </a:xfrm>
          <a:prstGeom prst="ellipse">
            <a:avLst/>
          </a:prstGeom>
          <a:solidFill>
            <a:srgbClr val="F28C28">
              <a:alpha val="55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960120" y="4306824"/>
            <a:ext cx="41148" cy="41148"/>
          </a:xfrm>
          <a:prstGeom prst="ellipse">
            <a:avLst/>
          </a:prstGeom>
          <a:solidFill>
            <a:srgbClr val="FFFFFF">
              <a:alpha val="55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1645920" y="4434840"/>
            <a:ext cx="41148" cy="41148"/>
          </a:xfrm>
          <a:prstGeom prst="ellipse">
            <a:avLst/>
          </a:prstGeom>
          <a:solidFill>
            <a:srgbClr val="FFFFFF">
              <a:alpha val="55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2331720" y="4242816"/>
            <a:ext cx="41148" cy="41148"/>
          </a:xfrm>
          <a:prstGeom prst="ellipse">
            <a:avLst/>
          </a:prstGeom>
          <a:solidFill>
            <a:srgbClr val="F28C28">
              <a:alpha val="55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3017520" y="4370832"/>
            <a:ext cx="41148" cy="41148"/>
          </a:xfrm>
          <a:prstGeom prst="ellipse">
            <a:avLst/>
          </a:prstGeom>
          <a:solidFill>
            <a:srgbClr val="FFFFFF">
              <a:alpha val="55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3703320" y="4178808"/>
            <a:ext cx="41148" cy="41148"/>
          </a:xfrm>
          <a:prstGeom prst="ellipse">
            <a:avLst/>
          </a:prstGeom>
          <a:solidFill>
            <a:srgbClr val="FFFFFF">
              <a:alpha val="55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4389120" y="4306824"/>
            <a:ext cx="41148" cy="41148"/>
          </a:xfrm>
          <a:prstGeom prst="ellipse">
            <a:avLst/>
          </a:prstGeom>
          <a:solidFill>
            <a:srgbClr val="F28C28">
              <a:alpha val="55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>
            <a:off x="5074920" y="4434840"/>
            <a:ext cx="41148" cy="41148"/>
          </a:xfrm>
          <a:prstGeom prst="ellipse">
            <a:avLst/>
          </a:prstGeom>
          <a:solidFill>
            <a:srgbClr val="FFFFFF">
              <a:alpha val="55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5760720" y="4242816"/>
            <a:ext cx="41148" cy="41148"/>
          </a:xfrm>
          <a:prstGeom prst="ellipse">
            <a:avLst/>
          </a:prstGeom>
          <a:solidFill>
            <a:srgbClr val="FFFFFF">
              <a:alpha val="55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>
            <a:off x="6446520" y="4370832"/>
            <a:ext cx="41148" cy="41148"/>
          </a:xfrm>
          <a:prstGeom prst="ellipse">
            <a:avLst/>
          </a:prstGeom>
          <a:solidFill>
            <a:srgbClr val="F28C28">
              <a:alpha val="55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>
            <a:off x="7132320" y="4178808"/>
            <a:ext cx="41148" cy="41148"/>
          </a:xfrm>
          <a:prstGeom prst="ellipse">
            <a:avLst/>
          </a:prstGeom>
          <a:solidFill>
            <a:srgbClr val="FFFFFF">
              <a:alpha val="55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>
            <a:off x="7818120" y="4306824"/>
            <a:ext cx="41148" cy="41148"/>
          </a:xfrm>
          <a:prstGeom prst="ellipse">
            <a:avLst/>
          </a:prstGeom>
          <a:solidFill>
            <a:srgbClr val="FFFFFF">
              <a:alpha val="55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>
            <a:off x="8503920" y="4434840"/>
            <a:ext cx="41148" cy="41148"/>
          </a:xfrm>
          <a:prstGeom prst="ellipse">
            <a:avLst/>
          </a:prstGeom>
          <a:solidFill>
            <a:srgbClr val="F28C28">
              <a:alpha val="55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>
            <a:off x="9189720" y="4242816"/>
            <a:ext cx="41148" cy="41148"/>
          </a:xfrm>
          <a:prstGeom prst="ellipse">
            <a:avLst/>
          </a:prstGeom>
          <a:solidFill>
            <a:srgbClr val="FFFFFF">
              <a:alpha val="55000"/>
            </a:srgbClr>
          </a:solidFill>
          <a:ln/>
        </p:spPr>
      </p:sp>
      <p:sp>
        <p:nvSpPr>
          <p:cNvPr id="19" name="Text 17"/>
          <p:cNvSpPr/>
          <p:nvPr/>
        </p:nvSpPr>
        <p:spPr>
          <a:xfrm>
            <a:off x="320040" y="164592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spc="200" kern="0" dirty="0">
                <a:solidFill>
                  <a:srgbClr val="F28C2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CRAFT N CODE 2.0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6080760" y="164592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C9B8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BAHI  |  R1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8503920" y="4828032"/>
            <a:ext cx="5029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C9B8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20040" y="475488"/>
            <a:ext cx="8503920" cy="0"/>
          </a:xfrm>
          <a:prstGeom prst="line">
            <a:avLst/>
          </a:prstGeom>
          <a:noFill/>
          <a:ln w="9525">
            <a:solidFill>
              <a:srgbClr val="F28C28">
                <a:alpha val="45000"/>
              </a:srgbClr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48640" y="658368"/>
            <a:ext cx="80467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Prototype</a:t>
            </a:r>
            <a:endParaRPr lang="en-US" sz="3000" dirty="0"/>
          </a:p>
        </p:txBody>
      </p:sp>
      <p:sp>
        <p:nvSpPr>
          <p:cNvPr id="24" name="Text 22"/>
          <p:cNvSpPr/>
          <p:nvPr/>
        </p:nvSpPr>
        <p:spPr>
          <a:xfrm>
            <a:off x="548640" y="1316736"/>
            <a:ext cx="8046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C9B8A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Real demo, captured from the running app before freeze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502920" y="1874520"/>
            <a:ext cx="1920240" cy="2148840"/>
          </a:xfrm>
          <a:prstGeom prst="roundRect">
            <a:avLst>
              <a:gd name="adj" fmla="val 2857"/>
            </a:avLst>
          </a:prstGeom>
          <a:solidFill>
            <a:srgbClr val="171310"/>
          </a:solidFill>
          <a:ln w="9525">
            <a:solidFill>
              <a:srgbClr val="F28C28">
                <a:alpha val="65000"/>
              </a:srgbClr>
            </a:solidFill>
            <a:prstDash val="solid"/>
          </a:ln>
        </p:spPr>
      </p:sp>
      <p:pic>
        <p:nvPicPr>
          <p:cNvPr id="26" name="Image 0" descr="ss/entry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66928" y="1938528"/>
            <a:ext cx="1792224" cy="1783080"/>
          </a:xfrm>
          <a:prstGeom prst="rect">
            <a:avLst/>
          </a:prstGeom>
        </p:spPr>
      </p:pic>
      <p:sp>
        <p:nvSpPr>
          <p:cNvPr id="27" name="Text 24"/>
          <p:cNvSpPr/>
          <p:nvPr/>
        </p:nvSpPr>
        <p:spPr>
          <a:xfrm>
            <a:off x="457200" y="4069080"/>
            <a:ext cx="20116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4-icon entry + voice confirm</a:t>
            </a:r>
            <a:endParaRPr lang="en-US" sz="950" dirty="0"/>
          </a:p>
        </p:txBody>
      </p:sp>
      <p:sp>
        <p:nvSpPr>
          <p:cNvPr id="28" name="Shape 25"/>
          <p:cNvSpPr/>
          <p:nvPr/>
        </p:nvSpPr>
        <p:spPr>
          <a:xfrm>
            <a:off x="2606040" y="1874520"/>
            <a:ext cx="1920240" cy="2148840"/>
          </a:xfrm>
          <a:prstGeom prst="roundRect">
            <a:avLst>
              <a:gd name="adj" fmla="val 2857"/>
            </a:avLst>
          </a:prstGeom>
          <a:solidFill>
            <a:srgbClr val="171310"/>
          </a:solidFill>
          <a:ln w="9525">
            <a:solidFill>
              <a:srgbClr val="F28C28">
                <a:alpha val="65000"/>
              </a:srgbClr>
            </a:solidFill>
            <a:prstDash val="solid"/>
          </a:ln>
        </p:spPr>
      </p:sp>
      <p:pic>
        <p:nvPicPr>
          <p:cNvPr id="29" name="Image 1" descr="ss/receipt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2670048" y="1938528"/>
            <a:ext cx="1792224" cy="1783080"/>
          </a:xfrm>
          <a:prstGeom prst="rect">
            <a:avLst/>
          </a:prstGeom>
        </p:spPr>
      </p:pic>
      <p:sp>
        <p:nvSpPr>
          <p:cNvPr id="30" name="Text 26"/>
          <p:cNvSpPr/>
          <p:nvPr/>
        </p:nvSpPr>
        <p:spPr>
          <a:xfrm>
            <a:off x="2560320" y="4069080"/>
            <a:ext cx="20116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Member receipt (QR + root)</a:t>
            </a:r>
            <a:endParaRPr lang="en-US" sz="950" dirty="0"/>
          </a:p>
        </p:txBody>
      </p:sp>
      <p:sp>
        <p:nvSpPr>
          <p:cNvPr id="31" name="Shape 27"/>
          <p:cNvSpPr/>
          <p:nvPr/>
        </p:nvSpPr>
        <p:spPr>
          <a:xfrm>
            <a:off x="4709160" y="1874520"/>
            <a:ext cx="1920240" cy="2148840"/>
          </a:xfrm>
          <a:prstGeom prst="roundRect">
            <a:avLst>
              <a:gd name="adj" fmla="val 2857"/>
            </a:avLst>
          </a:prstGeom>
          <a:solidFill>
            <a:srgbClr val="171310"/>
          </a:solidFill>
          <a:ln w="9525">
            <a:solidFill>
              <a:srgbClr val="F28C28">
                <a:alpha val="65000"/>
              </a:srgbClr>
            </a:solidFill>
            <a:prstDash val="solid"/>
          </a:ln>
        </p:spPr>
      </p:sp>
      <p:pic>
        <p:nvPicPr>
          <p:cNvPr id="32" name="Image 2" descr="ss/fork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4773168" y="1938528"/>
            <a:ext cx="1792224" cy="1783080"/>
          </a:xfrm>
          <a:prstGeom prst="rect">
            <a:avLst/>
          </a:prstGeom>
        </p:spPr>
      </p:pic>
      <p:sp>
        <p:nvSpPr>
          <p:cNvPr id="33" name="Text 28"/>
          <p:cNvSpPr/>
          <p:nvPr/>
        </p:nvSpPr>
        <p:spPr>
          <a:xfrm>
            <a:off x="4663440" y="4069080"/>
            <a:ext cx="20116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Fork alert: FORK AT MEETING M07</a:t>
            </a:r>
            <a:endParaRPr lang="en-US" sz="950" dirty="0"/>
          </a:p>
        </p:txBody>
      </p:sp>
      <p:sp>
        <p:nvSpPr>
          <p:cNvPr id="34" name="Shape 29"/>
          <p:cNvSpPr/>
          <p:nvPr/>
        </p:nvSpPr>
        <p:spPr>
          <a:xfrm>
            <a:off x="6812280" y="1874520"/>
            <a:ext cx="1920240" cy="2148840"/>
          </a:xfrm>
          <a:prstGeom prst="roundRect">
            <a:avLst>
              <a:gd name="adj" fmla="val 2857"/>
            </a:avLst>
          </a:prstGeom>
          <a:solidFill>
            <a:srgbClr val="171310"/>
          </a:solidFill>
          <a:ln w="9525">
            <a:solidFill>
              <a:srgbClr val="F28C28">
                <a:alpha val="65000"/>
              </a:srgbClr>
            </a:solidFill>
            <a:prstDash val="solid"/>
          </a:ln>
        </p:spPr>
      </p:sp>
      <p:pic>
        <p:nvPicPr>
          <p:cNvPr id="35" name="Image 3" descr="ss/auditor.pn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6876288" y="1938528"/>
            <a:ext cx="1792224" cy="1783080"/>
          </a:xfrm>
          <a:prstGeom prst="rect">
            <a:avLst/>
          </a:prstGeom>
        </p:spPr>
      </p:pic>
      <p:sp>
        <p:nvSpPr>
          <p:cNvPr id="36" name="Text 30"/>
          <p:cNvSpPr/>
          <p:nvPr/>
        </p:nvSpPr>
        <p:spPr>
          <a:xfrm>
            <a:off x="6766560" y="4069080"/>
            <a:ext cx="20116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Auditor view + export</a:t>
            </a:r>
            <a:endParaRPr lang="en-US" sz="950" dirty="0"/>
          </a:p>
        </p:txBody>
      </p:sp>
      <p:sp>
        <p:nvSpPr>
          <p:cNvPr id="37" name="Text 31"/>
          <p:cNvSpPr/>
          <p:nvPr/>
        </p:nvSpPr>
        <p:spPr>
          <a:xfrm>
            <a:off x="502920" y="4590288"/>
            <a:ext cx="8138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C9B8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Every screenshot is the real running app: entry, receipt, fork alert, auditor. Nothing is photoshopped.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D0B0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371600" y="4160520"/>
            <a:ext cx="11887200" cy="1005840"/>
          </a:xfrm>
          <a:prstGeom prst="ellipse">
            <a:avLst/>
          </a:prstGeom>
          <a:solidFill>
            <a:srgbClr val="F28C28">
              <a:alpha val="12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731520" y="4416552"/>
            <a:ext cx="10607040" cy="777240"/>
          </a:xfrm>
          <a:prstGeom prst="ellipse">
            <a:avLst/>
          </a:prstGeom>
          <a:solidFill>
            <a:srgbClr val="F28C28">
              <a:alpha val="2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182880" y="4663440"/>
            <a:ext cx="8778240" cy="640080"/>
          </a:xfrm>
          <a:prstGeom prst="ellipse">
            <a:avLst/>
          </a:prstGeom>
          <a:solidFill>
            <a:srgbClr val="F28C28">
              <a:alpha val="34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274320" y="4178808"/>
            <a:ext cx="41148" cy="41148"/>
          </a:xfrm>
          <a:prstGeom prst="ellipse">
            <a:avLst/>
          </a:prstGeom>
          <a:solidFill>
            <a:srgbClr val="F28C28">
              <a:alpha val="55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960120" y="4306824"/>
            <a:ext cx="41148" cy="41148"/>
          </a:xfrm>
          <a:prstGeom prst="ellipse">
            <a:avLst/>
          </a:prstGeom>
          <a:solidFill>
            <a:srgbClr val="FFFFFF">
              <a:alpha val="55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1645920" y="4434840"/>
            <a:ext cx="41148" cy="41148"/>
          </a:xfrm>
          <a:prstGeom prst="ellipse">
            <a:avLst/>
          </a:prstGeom>
          <a:solidFill>
            <a:srgbClr val="FFFFFF">
              <a:alpha val="55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2331720" y="4242816"/>
            <a:ext cx="41148" cy="41148"/>
          </a:xfrm>
          <a:prstGeom prst="ellipse">
            <a:avLst/>
          </a:prstGeom>
          <a:solidFill>
            <a:srgbClr val="F28C28">
              <a:alpha val="55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3017520" y="4370832"/>
            <a:ext cx="41148" cy="41148"/>
          </a:xfrm>
          <a:prstGeom prst="ellipse">
            <a:avLst/>
          </a:prstGeom>
          <a:solidFill>
            <a:srgbClr val="FFFFFF">
              <a:alpha val="55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3703320" y="4178808"/>
            <a:ext cx="41148" cy="41148"/>
          </a:xfrm>
          <a:prstGeom prst="ellipse">
            <a:avLst/>
          </a:prstGeom>
          <a:solidFill>
            <a:srgbClr val="FFFFFF">
              <a:alpha val="55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4389120" y="4306824"/>
            <a:ext cx="41148" cy="41148"/>
          </a:xfrm>
          <a:prstGeom prst="ellipse">
            <a:avLst/>
          </a:prstGeom>
          <a:solidFill>
            <a:srgbClr val="F28C28">
              <a:alpha val="55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>
            <a:off x="5074920" y="4434840"/>
            <a:ext cx="41148" cy="41148"/>
          </a:xfrm>
          <a:prstGeom prst="ellipse">
            <a:avLst/>
          </a:prstGeom>
          <a:solidFill>
            <a:srgbClr val="FFFFFF">
              <a:alpha val="55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5760720" y="4242816"/>
            <a:ext cx="41148" cy="41148"/>
          </a:xfrm>
          <a:prstGeom prst="ellipse">
            <a:avLst/>
          </a:prstGeom>
          <a:solidFill>
            <a:srgbClr val="FFFFFF">
              <a:alpha val="55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>
            <a:off x="6446520" y="4370832"/>
            <a:ext cx="41148" cy="41148"/>
          </a:xfrm>
          <a:prstGeom prst="ellipse">
            <a:avLst/>
          </a:prstGeom>
          <a:solidFill>
            <a:srgbClr val="F28C28">
              <a:alpha val="55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>
            <a:off x="7132320" y="4178808"/>
            <a:ext cx="41148" cy="41148"/>
          </a:xfrm>
          <a:prstGeom prst="ellipse">
            <a:avLst/>
          </a:prstGeom>
          <a:solidFill>
            <a:srgbClr val="FFFFFF">
              <a:alpha val="55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>
            <a:off x="7818120" y="4306824"/>
            <a:ext cx="41148" cy="41148"/>
          </a:xfrm>
          <a:prstGeom prst="ellipse">
            <a:avLst/>
          </a:prstGeom>
          <a:solidFill>
            <a:srgbClr val="FFFFFF">
              <a:alpha val="55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>
            <a:off x="8503920" y="4434840"/>
            <a:ext cx="41148" cy="41148"/>
          </a:xfrm>
          <a:prstGeom prst="ellipse">
            <a:avLst/>
          </a:prstGeom>
          <a:solidFill>
            <a:srgbClr val="F28C28">
              <a:alpha val="55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>
            <a:off x="9189720" y="4242816"/>
            <a:ext cx="41148" cy="41148"/>
          </a:xfrm>
          <a:prstGeom prst="ellipse">
            <a:avLst/>
          </a:prstGeom>
          <a:solidFill>
            <a:srgbClr val="FFFFFF">
              <a:alpha val="55000"/>
            </a:srgbClr>
          </a:solidFill>
          <a:ln/>
        </p:spPr>
      </p:sp>
      <p:sp>
        <p:nvSpPr>
          <p:cNvPr id="19" name="Text 17"/>
          <p:cNvSpPr/>
          <p:nvPr/>
        </p:nvSpPr>
        <p:spPr>
          <a:xfrm>
            <a:off x="320040" y="164592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spc="200" kern="0" dirty="0">
                <a:solidFill>
                  <a:srgbClr val="F28C2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CRAFT N CODE 2.0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6080760" y="164592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C9B8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BAHI  |  R1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8503920" y="4828032"/>
            <a:ext cx="5029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C9B8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20040" y="475488"/>
            <a:ext cx="8503920" cy="0"/>
          </a:xfrm>
          <a:prstGeom prst="line">
            <a:avLst/>
          </a:prstGeom>
          <a:noFill/>
          <a:ln w="9525">
            <a:solidFill>
              <a:srgbClr val="F28C28">
                <a:alpha val="45000"/>
              </a:srgbClr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48640" y="658368"/>
            <a:ext cx="80467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Challenges and Risks</a:t>
            </a:r>
            <a:endParaRPr lang="en-US" sz="3000" dirty="0"/>
          </a:p>
        </p:txBody>
      </p:sp>
      <p:sp>
        <p:nvSpPr>
          <p:cNvPr id="24" name="Shape 22"/>
          <p:cNvSpPr/>
          <p:nvPr/>
        </p:nvSpPr>
        <p:spPr>
          <a:xfrm>
            <a:off x="548640" y="1737360"/>
            <a:ext cx="3886200" cy="3017520"/>
          </a:xfrm>
          <a:prstGeom prst="roundRect">
            <a:avLst>
              <a:gd name="adj" fmla="val 1818"/>
            </a:avLst>
          </a:prstGeom>
          <a:solidFill>
            <a:srgbClr val="6B3A33"/>
          </a:solidFill>
          <a:ln w="6350">
            <a:solidFill>
              <a:srgbClr val="8C5A4E">
                <a:alpha val="60000"/>
              </a:srgbClr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77240" y="1874520"/>
            <a:ext cx="3474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28C2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we do NOT claim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777240" y="2240280"/>
            <a:ext cx="3520440" cy="2377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52400" indent="-152400">
              <a:lnSpc>
                <a:spcPts val="14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 security audit claim</a:t>
            </a:r>
            <a:endParaRPr lang="en-US" sz="1150" dirty="0"/>
          </a:p>
          <a:p>
            <a:pPr marL="152400" indent="-152400">
              <a:lnSpc>
                <a:spcPts val="14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 embezzlement detection claim</a:t>
            </a:r>
            <a:endParaRPr lang="en-US" sz="1150" dirty="0"/>
          </a:p>
          <a:p>
            <a:pPr marL="152400" indent="-152400">
              <a:lnSpc>
                <a:spcPts val="14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 PKI-grade signatures (witness MAC, labeled)</a:t>
            </a:r>
            <a:endParaRPr lang="en-US" sz="1150" dirty="0"/>
          </a:p>
          <a:p>
            <a:pPr marL="152400" indent="-152400">
              <a:lnSpc>
                <a:spcPts val="14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 Aadhaar / OTP / KYC</a:t>
            </a:r>
            <a:endParaRPr lang="en-US" sz="1150" dirty="0"/>
          </a:p>
          <a:p>
            <a:pPr marL="152400" indent="-152400">
              <a:lnSpc>
                <a:spcPts val="14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 server persistence, no live LokOS sync</a:t>
            </a:r>
            <a:endParaRPr lang="en-US" sz="1150" dirty="0"/>
          </a:p>
          <a:p>
            <a:pPr marL="152400" indent="-152400">
              <a:lnSpc>
                <a:spcPts val="14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 ML. Honesty is the product</a:t>
            </a:r>
            <a:endParaRPr lang="en-US" sz="1150" dirty="0"/>
          </a:p>
          <a:p>
            <a:pPr marL="152400" indent="-152400">
              <a:lnSpc>
                <a:spcPts val="14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Not fraud prevention: detection with a member-held artifact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4709160" y="1737360"/>
            <a:ext cx="3886200" cy="3017520"/>
          </a:xfrm>
          <a:prstGeom prst="roundRect">
            <a:avLst>
              <a:gd name="adj" fmla="val 1818"/>
            </a:avLst>
          </a:prstGeom>
          <a:solidFill>
            <a:srgbClr val="6B3A33"/>
          </a:solidFill>
          <a:ln w="6350">
            <a:solidFill>
              <a:srgbClr val="8C5A4E">
                <a:alpha val="60000"/>
              </a:srgbClr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937760" y="1874520"/>
            <a:ext cx="3474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28C2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Build risks and mitigations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4937760" y="2240280"/>
            <a:ext cx="3520440" cy="2377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52400" indent="-152400">
              <a:lnSpc>
                <a:spcPts val="14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QR on feature phones: byte-short payload, text fallback</a:t>
            </a:r>
            <a:endParaRPr lang="en-US" sz="1150" dirty="0"/>
          </a:p>
          <a:p>
            <a:pPr marL="152400" indent="-152400">
              <a:lnSpc>
                <a:spcPts val="14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Voice confirm on low-end audio: constrained repeat, icon fallback</a:t>
            </a:r>
            <a:endParaRPr lang="en-US" sz="1150" dirty="0"/>
          </a:p>
          <a:p>
            <a:pPr marL="152400" indent="-152400">
              <a:lnSpc>
                <a:spcPts val="14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Frozen data drift: all sources saved with SHA-256 in manifest</a:t>
            </a:r>
            <a:endParaRPr lang="en-US" sz="1150" dirty="0"/>
          </a:p>
          <a:p>
            <a:pPr marL="152400" indent="-152400">
              <a:lnSpc>
                <a:spcPts val="14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7h window: stdlib only, deterministic fixtures, one-command reset</a:t>
            </a:r>
            <a:endParaRPr lang="en-US" sz="1150" dirty="0"/>
          </a:p>
          <a:p>
            <a:pPr marL="152400" indent="-152400">
              <a:lnSpc>
                <a:spcPts val="14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Attack button in demo proves the detection claim live</a:t>
            </a:r>
            <a:endParaRPr lang="en-US" sz="11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D0B0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371600" y="4160520"/>
            <a:ext cx="11887200" cy="1005840"/>
          </a:xfrm>
          <a:prstGeom prst="ellipse">
            <a:avLst/>
          </a:prstGeom>
          <a:solidFill>
            <a:srgbClr val="F28C28">
              <a:alpha val="12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731520" y="4416552"/>
            <a:ext cx="10607040" cy="777240"/>
          </a:xfrm>
          <a:prstGeom prst="ellipse">
            <a:avLst/>
          </a:prstGeom>
          <a:solidFill>
            <a:srgbClr val="F28C28">
              <a:alpha val="2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182880" y="4663440"/>
            <a:ext cx="8778240" cy="640080"/>
          </a:xfrm>
          <a:prstGeom prst="ellipse">
            <a:avLst/>
          </a:prstGeom>
          <a:solidFill>
            <a:srgbClr val="F28C28">
              <a:alpha val="34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274320" y="4178808"/>
            <a:ext cx="41148" cy="41148"/>
          </a:xfrm>
          <a:prstGeom prst="ellipse">
            <a:avLst/>
          </a:prstGeom>
          <a:solidFill>
            <a:srgbClr val="F28C28">
              <a:alpha val="55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960120" y="4306824"/>
            <a:ext cx="41148" cy="41148"/>
          </a:xfrm>
          <a:prstGeom prst="ellipse">
            <a:avLst/>
          </a:prstGeom>
          <a:solidFill>
            <a:srgbClr val="FFFFFF">
              <a:alpha val="55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1645920" y="4434840"/>
            <a:ext cx="41148" cy="41148"/>
          </a:xfrm>
          <a:prstGeom prst="ellipse">
            <a:avLst/>
          </a:prstGeom>
          <a:solidFill>
            <a:srgbClr val="FFFFFF">
              <a:alpha val="55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2331720" y="4242816"/>
            <a:ext cx="41148" cy="41148"/>
          </a:xfrm>
          <a:prstGeom prst="ellipse">
            <a:avLst/>
          </a:prstGeom>
          <a:solidFill>
            <a:srgbClr val="F28C28">
              <a:alpha val="55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3017520" y="4370832"/>
            <a:ext cx="41148" cy="41148"/>
          </a:xfrm>
          <a:prstGeom prst="ellipse">
            <a:avLst/>
          </a:prstGeom>
          <a:solidFill>
            <a:srgbClr val="FFFFFF">
              <a:alpha val="55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3703320" y="4178808"/>
            <a:ext cx="41148" cy="41148"/>
          </a:xfrm>
          <a:prstGeom prst="ellipse">
            <a:avLst/>
          </a:prstGeom>
          <a:solidFill>
            <a:srgbClr val="FFFFFF">
              <a:alpha val="55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4389120" y="4306824"/>
            <a:ext cx="41148" cy="41148"/>
          </a:xfrm>
          <a:prstGeom prst="ellipse">
            <a:avLst/>
          </a:prstGeom>
          <a:solidFill>
            <a:srgbClr val="F28C28">
              <a:alpha val="55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>
            <a:off x="5074920" y="4434840"/>
            <a:ext cx="41148" cy="41148"/>
          </a:xfrm>
          <a:prstGeom prst="ellipse">
            <a:avLst/>
          </a:prstGeom>
          <a:solidFill>
            <a:srgbClr val="FFFFFF">
              <a:alpha val="55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5760720" y="4242816"/>
            <a:ext cx="41148" cy="41148"/>
          </a:xfrm>
          <a:prstGeom prst="ellipse">
            <a:avLst/>
          </a:prstGeom>
          <a:solidFill>
            <a:srgbClr val="FFFFFF">
              <a:alpha val="55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>
            <a:off x="6446520" y="4370832"/>
            <a:ext cx="41148" cy="41148"/>
          </a:xfrm>
          <a:prstGeom prst="ellipse">
            <a:avLst/>
          </a:prstGeom>
          <a:solidFill>
            <a:srgbClr val="F28C28">
              <a:alpha val="55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>
            <a:off x="7132320" y="4178808"/>
            <a:ext cx="41148" cy="41148"/>
          </a:xfrm>
          <a:prstGeom prst="ellipse">
            <a:avLst/>
          </a:prstGeom>
          <a:solidFill>
            <a:srgbClr val="FFFFFF">
              <a:alpha val="55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>
            <a:off x="7818120" y="4306824"/>
            <a:ext cx="41148" cy="41148"/>
          </a:xfrm>
          <a:prstGeom prst="ellipse">
            <a:avLst/>
          </a:prstGeom>
          <a:solidFill>
            <a:srgbClr val="FFFFFF">
              <a:alpha val="55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>
            <a:off x="8503920" y="4434840"/>
            <a:ext cx="41148" cy="41148"/>
          </a:xfrm>
          <a:prstGeom prst="ellipse">
            <a:avLst/>
          </a:prstGeom>
          <a:solidFill>
            <a:srgbClr val="F28C28">
              <a:alpha val="55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>
            <a:off x="9189720" y="4242816"/>
            <a:ext cx="41148" cy="41148"/>
          </a:xfrm>
          <a:prstGeom prst="ellipse">
            <a:avLst/>
          </a:prstGeom>
          <a:solidFill>
            <a:srgbClr val="FFFFFF">
              <a:alpha val="55000"/>
            </a:srgbClr>
          </a:solidFill>
          <a:ln/>
        </p:spPr>
      </p:sp>
      <p:sp>
        <p:nvSpPr>
          <p:cNvPr id="19" name="Text 17"/>
          <p:cNvSpPr/>
          <p:nvPr/>
        </p:nvSpPr>
        <p:spPr>
          <a:xfrm>
            <a:off x="320040" y="164592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spc="200" kern="0" dirty="0">
                <a:solidFill>
                  <a:srgbClr val="F28C2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CRAFT N CODE 2.0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6080760" y="164592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C9B8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BAHI  |  R1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8503920" y="4828032"/>
            <a:ext cx="5029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C9B8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20040" y="475488"/>
            <a:ext cx="8503920" cy="0"/>
          </a:xfrm>
          <a:prstGeom prst="line">
            <a:avLst/>
          </a:prstGeom>
          <a:noFill/>
          <a:ln w="9525">
            <a:solidFill>
              <a:srgbClr val="F28C28">
                <a:alpha val="45000"/>
              </a:srgbClr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48640" y="658368"/>
            <a:ext cx="80467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Impact and Benefits</a:t>
            </a:r>
            <a:endParaRPr lang="en-US" sz="3000" dirty="0"/>
          </a:p>
        </p:txBody>
      </p:sp>
      <p:sp>
        <p:nvSpPr>
          <p:cNvPr id="24" name="Shape 22"/>
          <p:cNvSpPr/>
          <p:nvPr/>
        </p:nvSpPr>
        <p:spPr>
          <a:xfrm>
            <a:off x="548640" y="1737360"/>
            <a:ext cx="3886200" cy="2880360"/>
          </a:xfrm>
          <a:prstGeom prst="roundRect">
            <a:avLst>
              <a:gd name="adj" fmla="val 1905"/>
            </a:avLst>
          </a:prstGeom>
          <a:solidFill>
            <a:srgbClr val="6B3A33"/>
          </a:solidFill>
          <a:ln w="6350">
            <a:solidFill>
              <a:srgbClr val="8C5A4E">
                <a:alpha val="60000"/>
              </a:srgbClr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77240" y="1874520"/>
            <a:ext cx="3474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28C2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Member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777240" y="2240280"/>
            <a:ext cx="3520440" cy="2240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52400" indent="-152400">
              <a:lnSpc>
                <a:spcPts val="14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Owns verifiable evidence of her own money</a:t>
            </a:r>
            <a:endParaRPr lang="en-US" sz="1150" dirty="0"/>
          </a:p>
          <a:p>
            <a:pPr marL="152400" indent="-152400">
              <a:lnSpc>
                <a:spcPts val="14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Receipt catches alteration instantly, offline</a:t>
            </a:r>
            <a:endParaRPr lang="en-US" sz="1150" dirty="0"/>
          </a:p>
          <a:p>
            <a:pPr marL="152400" indent="-152400">
              <a:lnSpc>
                <a:spcPts val="14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 trust in bookkeeper, vendor, cloud, or chain</a:t>
            </a:r>
            <a:endParaRPr lang="en-US" sz="1150" dirty="0"/>
          </a:p>
          <a:p>
            <a:pPr marL="152400" indent="-152400">
              <a:lnSpc>
                <a:spcPts val="14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Works on basic phones: print QR or copied text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4709160" y="1737360"/>
            <a:ext cx="3886200" cy="2880360"/>
          </a:xfrm>
          <a:prstGeom prst="roundRect">
            <a:avLst>
              <a:gd name="adj" fmla="val 1905"/>
            </a:avLst>
          </a:prstGeom>
          <a:solidFill>
            <a:srgbClr val="6B3A33"/>
          </a:solidFill>
          <a:ln w="6350">
            <a:solidFill>
              <a:srgbClr val="8C5A4E">
                <a:alpha val="60000"/>
              </a:srgbClr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937760" y="1874520"/>
            <a:ext cx="3474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28C2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Federation and system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4937760" y="2240280"/>
            <a:ext cx="3520440" cy="2240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52400" indent="-152400">
              <a:lnSpc>
                <a:spcPts val="14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Block/district audit remotely, no visit</a:t>
            </a:r>
            <a:endParaRPr lang="en-US" sz="1150" dirty="0"/>
          </a:p>
          <a:p>
            <a:pPr marL="152400" indent="-152400">
              <a:lnSpc>
                <a:spcPts val="14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Standardized audit report, exportable</a:t>
            </a:r>
            <a:endParaRPr lang="en-US" sz="1150" dirty="0"/>
          </a:p>
          <a:p>
            <a:pPr marL="152400" indent="-152400">
              <a:lnSpc>
                <a:spcPts val="14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Verification layer over LokOS: replaces nothing, audits everything</a:t>
            </a:r>
            <a:endParaRPr lang="en-US" sz="1150" dirty="0"/>
          </a:p>
          <a:p>
            <a:pPr marL="152400" indent="-152400">
              <a:lnSpc>
                <a:spcPts val="14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Tamil Nadu special audit: Rs 107.94 crore deficiencies (186 BLFs)</a:t>
            </a:r>
            <a:endParaRPr lang="en-US" sz="1150" dirty="0"/>
          </a:p>
        </p:txBody>
      </p:sp>
      <p:sp>
        <p:nvSpPr>
          <p:cNvPr id="30" name="Text 28"/>
          <p:cNvSpPr/>
          <p:nvPr/>
        </p:nvSpPr>
        <p:spPr>
          <a:xfrm>
            <a:off x="548640" y="4681728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28C2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Scale: 10.03 crore members | 144.22 lakh savings-linked accounts | 94.16 lakh SHGs on LokOS (sources on slide 8)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D0B0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371600" y="4160520"/>
            <a:ext cx="11887200" cy="1005840"/>
          </a:xfrm>
          <a:prstGeom prst="ellipse">
            <a:avLst/>
          </a:prstGeom>
          <a:solidFill>
            <a:srgbClr val="F28C28">
              <a:alpha val="12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731520" y="4416552"/>
            <a:ext cx="10607040" cy="777240"/>
          </a:xfrm>
          <a:prstGeom prst="ellipse">
            <a:avLst/>
          </a:prstGeom>
          <a:solidFill>
            <a:srgbClr val="F28C28">
              <a:alpha val="2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182880" y="4663440"/>
            <a:ext cx="8778240" cy="640080"/>
          </a:xfrm>
          <a:prstGeom prst="ellipse">
            <a:avLst/>
          </a:prstGeom>
          <a:solidFill>
            <a:srgbClr val="F28C28">
              <a:alpha val="34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274320" y="4178808"/>
            <a:ext cx="41148" cy="41148"/>
          </a:xfrm>
          <a:prstGeom prst="ellipse">
            <a:avLst/>
          </a:prstGeom>
          <a:solidFill>
            <a:srgbClr val="F28C28">
              <a:alpha val="55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960120" y="4306824"/>
            <a:ext cx="41148" cy="41148"/>
          </a:xfrm>
          <a:prstGeom prst="ellipse">
            <a:avLst/>
          </a:prstGeom>
          <a:solidFill>
            <a:srgbClr val="FFFFFF">
              <a:alpha val="55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1645920" y="4434840"/>
            <a:ext cx="41148" cy="41148"/>
          </a:xfrm>
          <a:prstGeom prst="ellipse">
            <a:avLst/>
          </a:prstGeom>
          <a:solidFill>
            <a:srgbClr val="FFFFFF">
              <a:alpha val="55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2331720" y="4242816"/>
            <a:ext cx="41148" cy="41148"/>
          </a:xfrm>
          <a:prstGeom prst="ellipse">
            <a:avLst/>
          </a:prstGeom>
          <a:solidFill>
            <a:srgbClr val="F28C28">
              <a:alpha val="55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3017520" y="4370832"/>
            <a:ext cx="41148" cy="41148"/>
          </a:xfrm>
          <a:prstGeom prst="ellipse">
            <a:avLst/>
          </a:prstGeom>
          <a:solidFill>
            <a:srgbClr val="FFFFFF">
              <a:alpha val="55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3703320" y="4178808"/>
            <a:ext cx="41148" cy="41148"/>
          </a:xfrm>
          <a:prstGeom prst="ellipse">
            <a:avLst/>
          </a:prstGeom>
          <a:solidFill>
            <a:srgbClr val="FFFFFF">
              <a:alpha val="55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4389120" y="4306824"/>
            <a:ext cx="41148" cy="41148"/>
          </a:xfrm>
          <a:prstGeom prst="ellipse">
            <a:avLst/>
          </a:prstGeom>
          <a:solidFill>
            <a:srgbClr val="F28C28">
              <a:alpha val="55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>
            <a:off x="5074920" y="4434840"/>
            <a:ext cx="41148" cy="41148"/>
          </a:xfrm>
          <a:prstGeom prst="ellipse">
            <a:avLst/>
          </a:prstGeom>
          <a:solidFill>
            <a:srgbClr val="FFFFFF">
              <a:alpha val="55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5760720" y="4242816"/>
            <a:ext cx="41148" cy="41148"/>
          </a:xfrm>
          <a:prstGeom prst="ellipse">
            <a:avLst/>
          </a:prstGeom>
          <a:solidFill>
            <a:srgbClr val="FFFFFF">
              <a:alpha val="55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>
            <a:off x="6446520" y="4370832"/>
            <a:ext cx="41148" cy="41148"/>
          </a:xfrm>
          <a:prstGeom prst="ellipse">
            <a:avLst/>
          </a:prstGeom>
          <a:solidFill>
            <a:srgbClr val="F28C28">
              <a:alpha val="55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>
            <a:off x="7132320" y="4178808"/>
            <a:ext cx="41148" cy="41148"/>
          </a:xfrm>
          <a:prstGeom prst="ellipse">
            <a:avLst/>
          </a:prstGeom>
          <a:solidFill>
            <a:srgbClr val="FFFFFF">
              <a:alpha val="55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>
            <a:off x="7818120" y="4306824"/>
            <a:ext cx="41148" cy="41148"/>
          </a:xfrm>
          <a:prstGeom prst="ellipse">
            <a:avLst/>
          </a:prstGeom>
          <a:solidFill>
            <a:srgbClr val="FFFFFF">
              <a:alpha val="55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>
            <a:off x="8503920" y="4434840"/>
            <a:ext cx="41148" cy="41148"/>
          </a:xfrm>
          <a:prstGeom prst="ellipse">
            <a:avLst/>
          </a:prstGeom>
          <a:solidFill>
            <a:srgbClr val="F28C28">
              <a:alpha val="55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>
            <a:off x="9189720" y="4242816"/>
            <a:ext cx="41148" cy="41148"/>
          </a:xfrm>
          <a:prstGeom prst="ellipse">
            <a:avLst/>
          </a:prstGeom>
          <a:solidFill>
            <a:srgbClr val="FFFFFF">
              <a:alpha val="55000"/>
            </a:srgbClr>
          </a:solidFill>
          <a:ln/>
        </p:spPr>
      </p:sp>
      <p:sp>
        <p:nvSpPr>
          <p:cNvPr id="19" name="Text 17"/>
          <p:cNvSpPr/>
          <p:nvPr/>
        </p:nvSpPr>
        <p:spPr>
          <a:xfrm>
            <a:off x="320040" y="164592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spc="200" kern="0" dirty="0">
                <a:solidFill>
                  <a:srgbClr val="F28C2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CRAFT N CODE 2.0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6080760" y="164592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C9B8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BAHI  |  R1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8503920" y="4828032"/>
            <a:ext cx="5029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C9B8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20040" y="475488"/>
            <a:ext cx="8503920" cy="0"/>
          </a:xfrm>
          <a:prstGeom prst="line">
            <a:avLst/>
          </a:prstGeom>
          <a:noFill/>
          <a:ln w="9525">
            <a:solidFill>
              <a:srgbClr val="F28C28">
                <a:alpha val="45000"/>
              </a:srgbClr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48640" y="658368"/>
            <a:ext cx="80467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Research and References</a:t>
            </a:r>
            <a:endParaRPr lang="en-US" sz="3000" dirty="0"/>
          </a:p>
        </p:txBody>
      </p:sp>
      <p:sp>
        <p:nvSpPr>
          <p:cNvPr id="24" name="Shape 22"/>
          <p:cNvSpPr/>
          <p:nvPr/>
        </p:nvSpPr>
        <p:spPr>
          <a:xfrm>
            <a:off x="548640" y="1737360"/>
            <a:ext cx="8046720" cy="2286000"/>
          </a:xfrm>
          <a:prstGeom prst="roundRect">
            <a:avLst>
              <a:gd name="adj" fmla="val 2400"/>
            </a:avLst>
          </a:prstGeom>
          <a:solidFill>
            <a:srgbClr val="6B3A33"/>
          </a:solidFill>
          <a:ln w="6350">
            <a:solidFill>
              <a:srgbClr val="8C5A4E">
                <a:alpha val="60000"/>
              </a:srgbClr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68680" y="1965960"/>
            <a:ext cx="740664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[1] PIB PRID 2280986 (2026-07-04): LokOS 94.16 lakh SHGs, 10.03 crore members</a:t>
            </a:r>
            <a:endParaRPr lang="en-US" sz="11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[2] NABARD SHG-Bank linkage stats: 144.22 lakh savings-linked accounts</a:t>
            </a:r>
            <a:endParaRPr lang="en-US" sz="11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[3] sa-dhan Bharat Microfinance Report FY 2024-25: group counts and flows</a:t>
            </a:r>
            <a:endParaRPr lang="en-US" sz="11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[4] v5 startup-diligence report, war1v5-ps-17: LokOS, DreamSave, Chomoka, Ensibuuko, Mifos, autopsies, M&amp;A</a:t>
            </a:r>
            <a:endParaRPr lang="en-US" sz="11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[5] FAILED-STARTUP AUTOPSIES and COMPLAINT MINING verbatim rows in repo docs/RESEARCH.md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548640" y="4206240"/>
            <a:ext cx="80467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C9B8A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Method: every number labeled VERIFIED or ESTIMATE with source URL + date. AI tooling used and disclosed per rulebook. Full ledger in repo docs/PROOF-LEDGER.md</a:t>
            </a:r>
            <a:endParaRPr lang="en-US" sz="10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D0B0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371600" y="4160520"/>
            <a:ext cx="11887200" cy="1005840"/>
          </a:xfrm>
          <a:prstGeom prst="ellipse">
            <a:avLst/>
          </a:prstGeom>
          <a:solidFill>
            <a:srgbClr val="F28C28">
              <a:alpha val="12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731520" y="4416552"/>
            <a:ext cx="10607040" cy="777240"/>
          </a:xfrm>
          <a:prstGeom prst="ellipse">
            <a:avLst/>
          </a:prstGeom>
          <a:solidFill>
            <a:srgbClr val="F28C28">
              <a:alpha val="2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182880" y="4663440"/>
            <a:ext cx="8778240" cy="640080"/>
          </a:xfrm>
          <a:prstGeom prst="ellipse">
            <a:avLst/>
          </a:prstGeom>
          <a:solidFill>
            <a:srgbClr val="F28C28">
              <a:alpha val="34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274320" y="4178808"/>
            <a:ext cx="41148" cy="41148"/>
          </a:xfrm>
          <a:prstGeom prst="ellipse">
            <a:avLst/>
          </a:prstGeom>
          <a:solidFill>
            <a:srgbClr val="F28C28">
              <a:alpha val="55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960120" y="4306824"/>
            <a:ext cx="41148" cy="41148"/>
          </a:xfrm>
          <a:prstGeom prst="ellipse">
            <a:avLst/>
          </a:prstGeom>
          <a:solidFill>
            <a:srgbClr val="FFFFFF">
              <a:alpha val="55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1645920" y="4434840"/>
            <a:ext cx="41148" cy="41148"/>
          </a:xfrm>
          <a:prstGeom prst="ellipse">
            <a:avLst/>
          </a:prstGeom>
          <a:solidFill>
            <a:srgbClr val="FFFFFF">
              <a:alpha val="55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2331720" y="4242816"/>
            <a:ext cx="41148" cy="41148"/>
          </a:xfrm>
          <a:prstGeom prst="ellipse">
            <a:avLst/>
          </a:prstGeom>
          <a:solidFill>
            <a:srgbClr val="F28C28">
              <a:alpha val="55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3017520" y="4370832"/>
            <a:ext cx="41148" cy="41148"/>
          </a:xfrm>
          <a:prstGeom prst="ellipse">
            <a:avLst/>
          </a:prstGeom>
          <a:solidFill>
            <a:srgbClr val="FFFFFF">
              <a:alpha val="55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3703320" y="4178808"/>
            <a:ext cx="41148" cy="41148"/>
          </a:xfrm>
          <a:prstGeom prst="ellipse">
            <a:avLst/>
          </a:prstGeom>
          <a:solidFill>
            <a:srgbClr val="FFFFFF">
              <a:alpha val="55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4389120" y="4306824"/>
            <a:ext cx="41148" cy="41148"/>
          </a:xfrm>
          <a:prstGeom prst="ellipse">
            <a:avLst/>
          </a:prstGeom>
          <a:solidFill>
            <a:srgbClr val="F28C28">
              <a:alpha val="55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>
            <a:off x="5074920" y="4434840"/>
            <a:ext cx="41148" cy="41148"/>
          </a:xfrm>
          <a:prstGeom prst="ellipse">
            <a:avLst/>
          </a:prstGeom>
          <a:solidFill>
            <a:srgbClr val="FFFFFF">
              <a:alpha val="55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5760720" y="4242816"/>
            <a:ext cx="41148" cy="41148"/>
          </a:xfrm>
          <a:prstGeom prst="ellipse">
            <a:avLst/>
          </a:prstGeom>
          <a:solidFill>
            <a:srgbClr val="FFFFFF">
              <a:alpha val="55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>
            <a:off x="6446520" y="4370832"/>
            <a:ext cx="41148" cy="41148"/>
          </a:xfrm>
          <a:prstGeom prst="ellipse">
            <a:avLst/>
          </a:prstGeom>
          <a:solidFill>
            <a:srgbClr val="F28C28">
              <a:alpha val="55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>
            <a:off x="7132320" y="4178808"/>
            <a:ext cx="41148" cy="41148"/>
          </a:xfrm>
          <a:prstGeom prst="ellipse">
            <a:avLst/>
          </a:prstGeom>
          <a:solidFill>
            <a:srgbClr val="FFFFFF">
              <a:alpha val="55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>
            <a:off x="7818120" y="4306824"/>
            <a:ext cx="41148" cy="41148"/>
          </a:xfrm>
          <a:prstGeom prst="ellipse">
            <a:avLst/>
          </a:prstGeom>
          <a:solidFill>
            <a:srgbClr val="FFFFFF">
              <a:alpha val="55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>
            <a:off x="8503920" y="4434840"/>
            <a:ext cx="41148" cy="41148"/>
          </a:xfrm>
          <a:prstGeom prst="ellipse">
            <a:avLst/>
          </a:prstGeom>
          <a:solidFill>
            <a:srgbClr val="F28C28">
              <a:alpha val="55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>
            <a:off x="9189720" y="4242816"/>
            <a:ext cx="41148" cy="41148"/>
          </a:xfrm>
          <a:prstGeom prst="ellipse">
            <a:avLst/>
          </a:prstGeom>
          <a:solidFill>
            <a:srgbClr val="FFFFFF">
              <a:alpha val="55000"/>
            </a:srgbClr>
          </a:solidFill>
          <a:ln/>
        </p:spPr>
      </p:sp>
      <p:sp>
        <p:nvSpPr>
          <p:cNvPr id="19" name="Text 17"/>
          <p:cNvSpPr/>
          <p:nvPr/>
        </p:nvSpPr>
        <p:spPr>
          <a:xfrm>
            <a:off x="320040" y="164592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spc="200" kern="0" dirty="0">
                <a:solidFill>
                  <a:srgbClr val="F28C2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CRAFT N CODE 2.0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6080760" y="164592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C9B8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BAHI  |  R1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8503920" y="4828032"/>
            <a:ext cx="5029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C9B8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20040" y="475488"/>
            <a:ext cx="8503920" cy="0"/>
          </a:xfrm>
          <a:prstGeom prst="line">
            <a:avLst/>
          </a:prstGeom>
          <a:noFill/>
          <a:ln w="9525">
            <a:solidFill>
              <a:srgbClr val="F28C28">
                <a:alpha val="45000"/>
              </a:srgbClr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48640" y="658368"/>
            <a:ext cx="80467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the Demo Proves</a:t>
            </a:r>
            <a:endParaRPr lang="en-US" sz="3000" dirty="0"/>
          </a:p>
        </p:txBody>
      </p:sp>
      <p:sp>
        <p:nvSpPr>
          <p:cNvPr id="24" name="Text 22"/>
          <p:cNvSpPr/>
          <p:nvPr/>
        </p:nvSpPr>
        <p:spPr>
          <a:xfrm>
            <a:off x="548640" y="1316736"/>
            <a:ext cx="8046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C9B8A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90 seconds, offline, deterministic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502920" y="1965960"/>
            <a:ext cx="1920240" cy="2011680"/>
          </a:xfrm>
          <a:prstGeom prst="roundRect">
            <a:avLst>
              <a:gd name="adj" fmla="val 2857"/>
            </a:avLst>
          </a:prstGeom>
          <a:solidFill>
            <a:srgbClr val="6B3A33"/>
          </a:solidFill>
          <a:ln w="6350">
            <a:solidFill>
              <a:srgbClr val="8C5A4E">
                <a:alpha val="60000"/>
              </a:srgbClr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94360" y="2103120"/>
            <a:ext cx="1737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8C2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ENTRY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12648" y="2514600"/>
            <a:ext cx="1700784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 icons + voice repeat + green tick. No typing, no literacy barrier.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2606040" y="1965960"/>
            <a:ext cx="1920240" cy="2011680"/>
          </a:xfrm>
          <a:prstGeom prst="roundRect">
            <a:avLst>
              <a:gd name="adj" fmla="val 2857"/>
            </a:avLst>
          </a:prstGeom>
          <a:solidFill>
            <a:srgbClr val="6B3A33"/>
          </a:solidFill>
          <a:ln w="6350">
            <a:solidFill>
              <a:srgbClr val="8C5A4E">
                <a:alpha val="60000"/>
              </a:srgbClr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697480" y="2103120"/>
            <a:ext cx="1737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8C2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WITNESS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2715768" y="2514600"/>
            <a:ext cx="1700784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 keys sign the meeting root. Receipts are QR/text, member-held.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4709160" y="1965960"/>
            <a:ext cx="1920240" cy="2011680"/>
          </a:xfrm>
          <a:prstGeom prst="roundRect">
            <a:avLst>
              <a:gd name="adj" fmla="val 2857"/>
            </a:avLst>
          </a:prstGeom>
          <a:solidFill>
            <a:srgbClr val="6B3A33"/>
          </a:solidFill>
          <a:ln w="6350">
            <a:solidFill>
              <a:srgbClr val="8C5A4E">
                <a:alpha val="60000"/>
              </a:srgbClr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800600" y="2103120"/>
            <a:ext cx="1737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8C2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ATTACK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4818888" y="2514600"/>
            <a:ext cx="1700784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Simulated tamper rewrites Rs 100 to Rs 10. Chain forks. Receipts fail.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6812280" y="1965960"/>
            <a:ext cx="1920240" cy="2011680"/>
          </a:xfrm>
          <a:prstGeom prst="roundRect">
            <a:avLst>
              <a:gd name="adj" fmla="val 2857"/>
            </a:avLst>
          </a:prstGeom>
          <a:solidFill>
            <a:srgbClr val="6B3A33"/>
          </a:solidFill>
          <a:ln w="6350">
            <a:solidFill>
              <a:srgbClr val="8C5A4E">
                <a:alpha val="60000"/>
              </a:srgbClr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903720" y="2103120"/>
            <a:ext cx="1737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8C2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AUDIT</a:t>
            </a:r>
            <a:endParaRPr lang="en-US" sz="1300" dirty="0"/>
          </a:p>
        </p:txBody>
      </p:sp>
      <p:sp>
        <p:nvSpPr>
          <p:cNvPr id="36" name="Text 34"/>
          <p:cNvSpPr/>
          <p:nvPr/>
        </p:nvSpPr>
        <p:spPr>
          <a:xfrm>
            <a:off x="6922008" y="2514600"/>
            <a:ext cx="1700784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Federation view lists the fork, the event, and which receipts still match.</a:t>
            </a:r>
            <a:endParaRPr lang="en-US" sz="950" dirty="0"/>
          </a:p>
        </p:txBody>
      </p:sp>
      <p:sp>
        <p:nvSpPr>
          <p:cNvPr id="37" name="Text 35"/>
          <p:cNvSpPr/>
          <p:nvPr/>
        </p:nvSpPr>
        <p:spPr>
          <a:xfrm>
            <a:off x="548640" y="416052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9B8A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Counter-fact: honest re-entry verifies green. The same receipt is the audit trail.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D0B0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371600" y="3749040"/>
            <a:ext cx="11887200" cy="1005840"/>
          </a:xfrm>
          <a:prstGeom prst="ellipse">
            <a:avLst/>
          </a:prstGeom>
          <a:solidFill>
            <a:srgbClr val="F28C28">
              <a:alpha val="12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731520" y="4005072"/>
            <a:ext cx="10607040" cy="777240"/>
          </a:xfrm>
          <a:prstGeom prst="ellipse">
            <a:avLst/>
          </a:prstGeom>
          <a:solidFill>
            <a:srgbClr val="F28C28">
              <a:alpha val="2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182880" y="4251960"/>
            <a:ext cx="8778240" cy="640080"/>
          </a:xfrm>
          <a:prstGeom prst="ellipse">
            <a:avLst/>
          </a:prstGeom>
          <a:solidFill>
            <a:srgbClr val="F28C28">
              <a:alpha val="34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274320" y="3767328"/>
            <a:ext cx="41148" cy="41148"/>
          </a:xfrm>
          <a:prstGeom prst="ellipse">
            <a:avLst/>
          </a:prstGeom>
          <a:solidFill>
            <a:srgbClr val="F28C28">
              <a:alpha val="55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960120" y="3895344"/>
            <a:ext cx="41148" cy="41148"/>
          </a:xfrm>
          <a:prstGeom prst="ellipse">
            <a:avLst/>
          </a:prstGeom>
          <a:solidFill>
            <a:srgbClr val="FFFFFF">
              <a:alpha val="55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1645920" y="4023360"/>
            <a:ext cx="41148" cy="41148"/>
          </a:xfrm>
          <a:prstGeom prst="ellipse">
            <a:avLst/>
          </a:prstGeom>
          <a:solidFill>
            <a:srgbClr val="FFFFFF">
              <a:alpha val="55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2331720" y="3831336"/>
            <a:ext cx="41148" cy="41148"/>
          </a:xfrm>
          <a:prstGeom prst="ellipse">
            <a:avLst/>
          </a:prstGeom>
          <a:solidFill>
            <a:srgbClr val="F28C28">
              <a:alpha val="55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3017520" y="3959352"/>
            <a:ext cx="41148" cy="41148"/>
          </a:xfrm>
          <a:prstGeom prst="ellipse">
            <a:avLst/>
          </a:prstGeom>
          <a:solidFill>
            <a:srgbClr val="FFFFFF">
              <a:alpha val="55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3703320" y="3767328"/>
            <a:ext cx="41148" cy="41148"/>
          </a:xfrm>
          <a:prstGeom prst="ellipse">
            <a:avLst/>
          </a:prstGeom>
          <a:solidFill>
            <a:srgbClr val="FFFFFF">
              <a:alpha val="55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4389120" y="3895344"/>
            <a:ext cx="41148" cy="41148"/>
          </a:xfrm>
          <a:prstGeom prst="ellipse">
            <a:avLst/>
          </a:prstGeom>
          <a:solidFill>
            <a:srgbClr val="F28C28">
              <a:alpha val="55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>
            <a:off x="5074920" y="4023360"/>
            <a:ext cx="41148" cy="41148"/>
          </a:xfrm>
          <a:prstGeom prst="ellipse">
            <a:avLst/>
          </a:prstGeom>
          <a:solidFill>
            <a:srgbClr val="FFFFFF">
              <a:alpha val="55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5760720" y="3831336"/>
            <a:ext cx="41148" cy="41148"/>
          </a:xfrm>
          <a:prstGeom prst="ellipse">
            <a:avLst/>
          </a:prstGeom>
          <a:solidFill>
            <a:srgbClr val="FFFFFF">
              <a:alpha val="55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>
            <a:off x="6446520" y="3959352"/>
            <a:ext cx="41148" cy="41148"/>
          </a:xfrm>
          <a:prstGeom prst="ellipse">
            <a:avLst/>
          </a:prstGeom>
          <a:solidFill>
            <a:srgbClr val="F28C28">
              <a:alpha val="55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>
            <a:off x="7132320" y="3767328"/>
            <a:ext cx="41148" cy="41148"/>
          </a:xfrm>
          <a:prstGeom prst="ellipse">
            <a:avLst/>
          </a:prstGeom>
          <a:solidFill>
            <a:srgbClr val="FFFFFF">
              <a:alpha val="55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>
            <a:off x="7818120" y="3895344"/>
            <a:ext cx="41148" cy="41148"/>
          </a:xfrm>
          <a:prstGeom prst="ellipse">
            <a:avLst/>
          </a:prstGeom>
          <a:solidFill>
            <a:srgbClr val="FFFFFF">
              <a:alpha val="55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>
            <a:off x="8503920" y="4023360"/>
            <a:ext cx="41148" cy="41148"/>
          </a:xfrm>
          <a:prstGeom prst="ellipse">
            <a:avLst/>
          </a:prstGeom>
          <a:solidFill>
            <a:srgbClr val="F28C28">
              <a:alpha val="55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>
            <a:off x="9189720" y="3831336"/>
            <a:ext cx="41148" cy="41148"/>
          </a:xfrm>
          <a:prstGeom prst="ellipse">
            <a:avLst/>
          </a:prstGeom>
          <a:solidFill>
            <a:srgbClr val="FFFFFF">
              <a:alpha val="55000"/>
            </a:srgbClr>
          </a:solidFill>
          <a:ln/>
        </p:spPr>
      </p:sp>
      <p:sp>
        <p:nvSpPr>
          <p:cNvPr id="19" name="Text 17"/>
          <p:cNvSpPr/>
          <p:nvPr/>
        </p:nvSpPr>
        <p:spPr>
          <a:xfrm>
            <a:off x="457200" y="1554480"/>
            <a:ext cx="8229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Thank You</a:t>
            </a:r>
            <a:endParaRPr lang="en-US" sz="5600" dirty="0"/>
          </a:p>
        </p:txBody>
      </p:sp>
      <p:sp>
        <p:nvSpPr>
          <p:cNvPr id="20" name="Text 18"/>
          <p:cNvSpPr/>
          <p:nvPr/>
        </p:nvSpPr>
        <p:spPr>
          <a:xfrm>
            <a:off x="731520" y="274320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F28C2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person who records the money is no longer the only proof.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731520" y="3291840"/>
            <a:ext cx="7680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9B8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Team 511  |  Track PS-17  |  github.com/harshgounder/craft-n-code-bahi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731520" y="3749040"/>
            <a:ext cx="7680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C9B8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CRAFT N CODE 2.0  |  ROUND 1  |  2026-08-23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BAHI - Member-Witnessed Verification Layer (PS-17)</dc:title>
  <dc:subject>Craft N Code 2026 Round 1</dc:subject>
  <dc:creator>Team 511</dc:creator>
  <cp:lastModifiedBy>Team 511</cp:lastModifiedBy>
  <cp:revision>1</cp:revision>
  <dcterms:created xsi:type="dcterms:W3CDTF">2026-08-23T00:05:05Z</dcterms:created>
  <dcterms:modified xsi:type="dcterms:W3CDTF">2026-08-23T00:05:05Z</dcterms:modified>
</cp:coreProperties>
</file>